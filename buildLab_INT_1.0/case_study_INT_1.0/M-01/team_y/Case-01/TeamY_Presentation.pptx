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274320"/>
          </a:xfrm>
          <a:prstGeom prst="rect">
            <a:avLst/>
          </a:prstGeom>
          <a:noFill/>
          <a:ln/>
        </p:spPr>
        <p:txBody>
          <a:bodyPr wrap="square" lIns="0" tIns="0" rIns="0" bIns="0" rtlCol="0" anchor="ctr"/>
          <a:lstStyle/>
          <a:p>
            <a:pPr indent="0" marL="0">
              <a:buNone/>
            </a:pPr>
            <a:r>
              <a:rPr lang="en-US" sz="1100" b="1" spc="200" kern="0" dirty="0">
                <a:solidFill>
                  <a:srgbClr val="7A7A7A"/>
                </a:solidFill>
                <a:latin typeface="Calibri" pitchFamily="34" charset="0"/>
                <a:ea typeface="Calibri" pitchFamily="34" charset="-122"/>
                <a:cs typeface="Calibri" pitchFamily="34" charset="-120"/>
              </a:rPr>
              <a:t>TECHNICAL CASE STUDY</a:t>
            </a:r>
            <a:endParaRPr lang="en-US" sz="1100" dirty="0"/>
          </a:p>
        </p:txBody>
      </p:sp>
      <p:sp>
        <p:nvSpPr>
          <p:cNvPr id="3" name="Text 1"/>
          <p:cNvSpPr/>
          <p:nvPr/>
        </p:nvSpPr>
        <p:spPr>
          <a:xfrm>
            <a:off x="457200" y="502920"/>
            <a:ext cx="11247120" cy="64008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Why Search Engines Need an Index</a:t>
            </a:r>
            <a:endParaRPr lang="en-US" sz="3000" dirty="0"/>
          </a:p>
        </p:txBody>
      </p:sp>
      <p:sp>
        <p:nvSpPr>
          <p:cNvPr id="4" name="Text 2"/>
          <p:cNvSpPr/>
          <p:nvPr/>
        </p:nvSpPr>
        <p:spPr>
          <a:xfrm>
            <a:off x="11612880" y="6510528"/>
            <a:ext cx="365760" cy="274320"/>
          </a:xfrm>
          <a:prstGeom prst="rect">
            <a:avLst/>
          </a:prstGeom>
          <a:noFill/>
          <a:ln/>
        </p:spPr>
        <p:txBody>
          <a:bodyPr wrap="square" lIns="0" tIns="0" rIns="0" bIns="0" rtlCol="0" anchor="ctr"/>
          <a:lstStyle/>
          <a:p>
            <a:pPr algn="r" indent="0" marL="0">
              <a:buNone/>
            </a:pPr>
            <a:r>
              <a:rPr lang="en-US" sz="1000" dirty="0">
                <a:solidFill>
                  <a:srgbClr val="ADADAD"/>
                </a:solidFill>
                <a:latin typeface="Calibri" pitchFamily="34" charset="0"/>
                <a:ea typeface="Calibri" pitchFamily="34" charset="-122"/>
                <a:cs typeface="Calibri" pitchFamily="34" charset="-120"/>
              </a:rPr>
              <a:t>1</a:t>
            </a:r>
            <a:endParaRPr lang="en-US" sz="1000" dirty="0"/>
          </a:p>
        </p:txBody>
      </p:sp>
      <p:sp>
        <p:nvSpPr>
          <p:cNvPr id="5" name="Text 3"/>
          <p:cNvSpPr/>
          <p:nvPr/>
        </p:nvSpPr>
        <p:spPr>
          <a:xfrm>
            <a:off x="457200" y="1417320"/>
            <a:ext cx="5577840" cy="1234440"/>
          </a:xfrm>
          <a:prstGeom prst="rect">
            <a:avLst/>
          </a:prstGeom>
          <a:noFill/>
          <a:ln/>
        </p:spPr>
        <p:txBody>
          <a:bodyPr wrap="square" lIns="0" tIns="0" rIns="0" bIns="0" rtlCol="0" anchor="t"/>
          <a:lstStyle/>
          <a:p>
            <a:pPr indent="0" marL="0">
              <a:lnSpc>
                <a:spcPct val="118000"/>
              </a:lnSpc>
              <a:buNone/>
            </a:pPr>
            <a:r>
              <a:rPr lang="en-US" sz="1400" b="1" dirty="0">
                <a:solidFill>
                  <a:srgbClr val="1A1A1A"/>
                </a:solidFill>
                <a:latin typeface="Calibri" pitchFamily="34" charset="0"/>
                <a:ea typeface="Calibri" pitchFamily="34" charset="-122"/>
                <a:cs typeface="Calibri" pitchFamily="34" charset="-120"/>
              </a:rPr>
              <a:t>The Problem</a:t>
            </a:r>
            <a:endParaRPr lang="en-US" sz="1400" dirty="0"/>
          </a:p>
          <a:p>
            <a:pPr indent="0" marL="0">
              <a:lnSpc>
                <a:spcPct val="118000"/>
              </a:lnSpc>
              <a:buNone/>
            </a:pPr>
            <a:r>
              <a:rPr lang="en-US" sz="1250" dirty="0">
                <a:solidFill>
                  <a:srgbClr val="4D4D4D"/>
                </a:solidFill>
                <a:latin typeface="Calibri" pitchFamily="34" charset="0"/>
                <a:ea typeface="Calibri" pitchFamily="34" charset="-122"/>
                <a:cs typeface="Calibri" pitchFamily="34" charset="-120"/>
              </a:rPr>
              <a:t>The public web contains hundreds of trillions of documents distributed across millions of independent servers, with no central directory. Querying the live web on every request would be far too slow and unreliable.</a:t>
            </a:r>
            <a:endParaRPr lang="en-US" sz="1400" dirty="0"/>
          </a:p>
        </p:txBody>
      </p:sp>
      <p:sp>
        <p:nvSpPr>
          <p:cNvPr id="6" name="Text 4"/>
          <p:cNvSpPr/>
          <p:nvPr/>
        </p:nvSpPr>
        <p:spPr>
          <a:xfrm>
            <a:off x="457200" y="2743200"/>
            <a:ext cx="5577840" cy="32004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Three Engineering Challenges</a:t>
            </a:r>
            <a:endParaRPr lang="en-US" sz="1300" dirty="0"/>
          </a:p>
        </p:txBody>
      </p:sp>
      <p:sp>
        <p:nvSpPr>
          <p:cNvPr id="7" name="Shape 5"/>
          <p:cNvSpPr/>
          <p:nvPr/>
        </p:nvSpPr>
        <p:spPr>
          <a:xfrm>
            <a:off x="457200" y="3127248"/>
            <a:ext cx="5577840" cy="822960"/>
          </a:xfrm>
          <a:prstGeom prst="rect">
            <a:avLst>
              <a:gd name="adj" fmla="val 4444"/>
            </a:avLst>
          </a:prstGeom>
          <a:solidFill>
            <a:srgbClr val="F4F4F4"/>
          </a:solidFill>
          <a:ln w="12700">
            <a:solidFill>
              <a:srgbClr val="C9C9C9"/>
            </a:solidFill>
            <a:prstDash val="solid"/>
          </a:ln>
        </p:spPr>
      </p:sp>
      <p:sp>
        <p:nvSpPr>
          <p:cNvPr id="8" name="Shape 6"/>
          <p:cNvSpPr/>
          <p:nvPr/>
        </p:nvSpPr>
        <p:spPr>
          <a:xfrm>
            <a:off x="457200" y="3127248"/>
            <a:ext cx="457200" cy="822960"/>
          </a:xfrm>
          <a:prstGeom prst="rect">
            <a:avLst/>
          </a:prstGeom>
          <a:solidFill>
            <a:srgbClr val="1A1A1A"/>
          </a:solidFill>
          <a:ln/>
        </p:spPr>
      </p:sp>
      <p:sp>
        <p:nvSpPr>
          <p:cNvPr id="9" name="Text 7"/>
          <p:cNvSpPr/>
          <p:nvPr/>
        </p:nvSpPr>
        <p:spPr>
          <a:xfrm>
            <a:off x="457200" y="3127248"/>
            <a:ext cx="45720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097280" y="3127248"/>
            <a:ext cx="4800600" cy="822960"/>
          </a:xfrm>
          <a:prstGeom prst="rect">
            <a:avLst/>
          </a:prstGeom>
          <a:noFill/>
          <a:ln/>
        </p:spPr>
        <p:txBody>
          <a:bodyPr wrap="square" lIns="0" tIns="0" rIns="0" bIns="0" rtlCol="0" anchor="ctr"/>
          <a:lstStyle/>
          <a:p>
            <a:pPr indent="0" marL="0">
              <a:lnSpc>
                <a:spcPct val="108000"/>
              </a:lnSpc>
              <a:buNone/>
            </a:pPr>
            <a:r>
              <a:rPr lang="en-US" sz="1250" b="1" dirty="0">
                <a:solidFill>
                  <a:srgbClr val="1A1A1A"/>
                </a:solidFill>
                <a:latin typeface="Calibri" pitchFamily="34" charset="0"/>
                <a:ea typeface="Calibri" pitchFamily="34" charset="-122"/>
                <a:cs typeface="Calibri" pitchFamily="34" charset="-120"/>
              </a:rPr>
              <a:t>Ingestion &amp; Indexing</a:t>
            </a:r>
            <a:endParaRPr lang="en-US" sz="1250" dirty="0"/>
          </a:p>
          <a:p>
            <a:pPr indent="0" marL="0">
              <a:lnSpc>
                <a:spcPct val="108000"/>
              </a:lnSpc>
              <a:buNone/>
            </a:pPr>
            <a:r>
              <a:rPr lang="en-US" sz="1050" dirty="0">
                <a:solidFill>
                  <a:srgbClr val="4D4D4D"/>
                </a:solidFill>
                <a:latin typeface="Calibri" pitchFamily="34" charset="0"/>
                <a:ea typeface="Calibri" pitchFamily="34" charset="-122"/>
                <a:cs typeface="Calibri" pitchFamily="34" charset="-120"/>
              </a:rPr>
              <a:t>Discover, fetch, render, deduplicate, and index web content.</a:t>
            </a:r>
            <a:endParaRPr lang="en-US" sz="1250" dirty="0"/>
          </a:p>
        </p:txBody>
      </p:sp>
      <p:sp>
        <p:nvSpPr>
          <p:cNvPr id="11" name="Shape 9"/>
          <p:cNvSpPr/>
          <p:nvPr/>
        </p:nvSpPr>
        <p:spPr>
          <a:xfrm>
            <a:off x="457200" y="4087368"/>
            <a:ext cx="5577840" cy="822960"/>
          </a:xfrm>
          <a:prstGeom prst="rect">
            <a:avLst>
              <a:gd name="adj" fmla="val 4444"/>
            </a:avLst>
          </a:prstGeom>
          <a:solidFill>
            <a:srgbClr val="F4F4F4"/>
          </a:solidFill>
          <a:ln w="12700">
            <a:solidFill>
              <a:srgbClr val="C9C9C9"/>
            </a:solidFill>
            <a:prstDash val="solid"/>
          </a:ln>
        </p:spPr>
      </p:sp>
      <p:sp>
        <p:nvSpPr>
          <p:cNvPr id="12" name="Shape 10"/>
          <p:cNvSpPr/>
          <p:nvPr/>
        </p:nvSpPr>
        <p:spPr>
          <a:xfrm>
            <a:off x="457200" y="4087368"/>
            <a:ext cx="457200" cy="822960"/>
          </a:xfrm>
          <a:prstGeom prst="rect">
            <a:avLst/>
          </a:prstGeom>
          <a:solidFill>
            <a:srgbClr val="1A1A1A"/>
          </a:solidFill>
          <a:ln/>
        </p:spPr>
      </p:sp>
      <p:sp>
        <p:nvSpPr>
          <p:cNvPr id="13" name="Text 11"/>
          <p:cNvSpPr/>
          <p:nvPr/>
        </p:nvSpPr>
        <p:spPr>
          <a:xfrm>
            <a:off x="457200" y="4087368"/>
            <a:ext cx="45720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1097280" y="4087368"/>
            <a:ext cx="4800600" cy="822960"/>
          </a:xfrm>
          <a:prstGeom prst="rect">
            <a:avLst/>
          </a:prstGeom>
          <a:noFill/>
          <a:ln/>
        </p:spPr>
        <p:txBody>
          <a:bodyPr wrap="square" lIns="0" tIns="0" rIns="0" bIns="0" rtlCol="0" anchor="ctr"/>
          <a:lstStyle/>
          <a:p>
            <a:pPr indent="0" marL="0">
              <a:lnSpc>
                <a:spcPct val="108000"/>
              </a:lnSpc>
              <a:buNone/>
            </a:pPr>
            <a:r>
              <a:rPr lang="en-US" sz="1250" b="1" dirty="0">
                <a:solidFill>
                  <a:srgbClr val="1A1A1A"/>
                </a:solidFill>
                <a:latin typeface="Calibri" pitchFamily="34" charset="0"/>
                <a:ea typeface="Calibri" pitchFamily="34" charset="-122"/>
                <a:cs typeface="Calibri" pitchFamily="34" charset="-120"/>
              </a:rPr>
              <a:t>Query Intelligence</a:t>
            </a:r>
            <a:endParaRPr lang="en-US" sz="1250" dirty="0"/>
          </a:p>
          <a:p>
            <a:pPr indent="0" marL="0">
              <a:lnSpc>
                <a:spcPct val="108000"/>
              </a:lnSpc>
              <a:buNone/>
            </a:pPr>
            <a:r>
              <a:rPr lang="en-US" sz="1050" dirty="0">
                <a:solidFill>
                  <a:srgbClr val="4D4D4D"/>
                </a:solidFill>
                <a:latin typeface="Calibri" pitchFamily="34" charset="0"/>
                <a:ea typeface="Calibri" pitchFamily="34" charset="-122"/>
                <a:cs typeface="Calibri" pitchFamily="34" charset="-120"/>
              </a:rPr>
              <a:t>Understand, normalize, correct, and expand the user's query.</a:t>
            </a:r>
            <a:endParaRPr lang="en-US" sz="1250" dirty="0"/>
          </a:p>
        </p:txBody>
      </p:sp>
      <p:sp>
        <p:nvSpPr>
          <p:cNvPr id="15" name="Shape 13"/>
          <p:cNvSpPr/>
          <p:nvPr/>
        </p:nvSpPr>
        <p:spPr>
          <a:xfrm>
            <a:off x="457200" y="5047488"/>
            <a:ext cx="5577840" cy="822960"/>
          </a:xfrm>
          <a:prstGeom prst="rect">
            <a:avLst>
              <a:gd name="adj" fmla="val 4444"/>
            </a:avLst>
          </a:prstGeom>
          <a:solidFill>
            <a:srgbClr val="F4F4F4"/>
          </a:solidFill>
          <a:ln w="12700">
            <a:solidFill>
              <a:srgbClr val="C9C9C9"/>
            </a:solidFill>
            <a:prstDash val="solid"/>
          </a:ln>
        </p:spPr>
      </p:sp>
      <p:sp>
        <p:nvSpPr>
          <p:cNvPr id="16" name="Shape 14"/>
          <p:cNvSpPr/>
          <p:nvPr/>
        </p:nvSpPr>
        <p:spPr>
          <a:xfrm>
            <a:off x="457200" y="5047488"/>
            <a:ext cx="457200" cy="822960"/>
          </a:xfrm>
          <a:prstGeom prst="rect">
            <a:avLst/>
          </a:prstGeom>
          <a:solidFill>
            <a:srgbClr val="1A1A1A"/>
          </a:solidFill>
          <a:ln/>
        </p:spPr>
      </p:sp>
      <p:sp>
        <p:nvSpPr>
          <p:cNvPr id="17" name="Text 15"/>
          <p:cNvSpPr/>
          <p:nvPr/>
        </p:nvSpPr>
        <p:spPr>
          <a:xfrm>
            <a:off x="457200" y="5047488"/>
            <a:ext cx="45720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1097280" y="5047488"/>
            <a:ext cx="4800600" cy="822960"/>
          </a:xfrm>
          <a:prstGeom prst="rect">
            <a:avLst/>
          </a:prstGeom>
          <a:noFill/>
          <a:ln/>
        </p:spPr>
        <p:txBody>
          <a:bodyPr wrap="square" lIns="0" tIns="0" rIns="0" bIns="0" rtlCol="0" anchor="ctr"/>
          <a:lstStyle/>
          <a:p>
            <a:pPr indent="0" marL="0">
              <a:lnSpc>
                <a:spcPct val="108000"/>
              </a:lnSpc>
              <a:buNone/>
            </a:pPr>
            <a:r>
              <a:rPr lang="en-US" sz="1250" b="1" dirty="0">
                <a:solidFill>
                  <a:srgbClr val="1A1A1A"/>
                </a:solidFill>
                <a:latin typeface="Calibri" pitchFamily="34" charset="0"/>
                <a:ea typeface="Calibri" pitchFamily="34" charset="-122"/>
                <a:cs typeface="Calibri" pitchFamily="34" charset="-120"/>
              </a:rPr>
              <a:t>Retrieval &amp; Ranking</a:t>
            </a:r>
            <a:endParaRPr lang="en-US" sz="1250" dirty="0"/>
          </a:p>
          <a:p>
            <a:pPr indent="0" marL="0">
              <a:lnSpc>
                <a:spcPct val="108000"/>
              </a:lnSpc>
              <a:buNone/>
            </a:pPr>
            <a:r>
              <a:rPr lang="en-US" sz="1050" dirty="0">
                <a:solidFill>
                  <a:srgbClr val="4D4D4D"/>
                </a:solidFill>
                <a:latin typeface="Calibri" pitchFamily="34" charset="0"/>
                <a:ea typeface="Calibri" pitchFamily="34" charset="-122"/>
                <a:cs typeface="Calibri" pitchFamily="34" charset="-120"/>
              </a:rPr>
              <a:t>Retrieve candidates from distributed indexes and rank the best results.</a:t>
            </a:r>
            <a:endParaRPr lang="en-US" sz="1250" dirty="0"/>
          </a:p>
        </p:txBody>
      </p:sp>
      <p:sp>
        <p:nvSpPr>
          <p:cNvPr id="19" name="Shape 17"/>
          <p:cNvSpPr/>
          <p:nvPr/>
        </p:nvSpPr>
        <p:spPr>
          <a:xfrm>
            <a:off x="6537960" y="1371600"/>
            <a:ext cx="5166360" cy="4617720"/>
          </a:xfrm>
          <a:prstGeom prst="rect">
            <a:avLst>
              <a:gd name="adj" fmla="val 792"/>
            </a:avLst>
          </a:prstGeom>
          <a:solidFill>
            <a:srgbClr val="FFFFFF"/>
          </a:solidFill>
          <a:ln w="12700">
            <a:solidFill>
              <a:srgbClr val="C9C9C9"/>
            </a:solidFill>
            <a:prstDash val="solid"/>
          </a:ln>
        </p:spPr>
      </p:sp>
      <p:sp>
        <p:nvSpPr>
          <p:cNvPr id="20" name="Text 18"/>
          <p:cNvSpPr/>
          <p:nvPr/>
        </p:nvSpPr>
        <p:spPr>
          <a:xfrm>
            <a:off x="6766560" y="1481328"/>
            <a:ext cx="4709160" cy="274320"/>
          </a:xfrm>
          <a:prstGeom prst="rect">
            <a:avLst/>
          </a:prstGeom>
          <a:noFill/>
          <a:ln/>
        </p:spPr>
        <p:txBody>
          <a:bodyPr wrap="square" lIns="0" tIns="0" rIns="0" bIns="0" rtlCol="0" anchor="ctr"/>
          <a:lstStyle/>
          <a:p>
            <a:pPr indent="0" marL="0">
              <a:buNone/>
            </a:pPr>
            <a:r>
              <a:rPr lang="en-US" sz="1050" b="1" spc="100" kern="0" dirty="0">
                <a:solidFill>
                  <a:srgbClr val="7A7A7A"/>
                </a:solidFill>
                <a:latin typeface="Calibri" pitchFamily="34" charset="0"/>
                <a:ea typeface="Calibri" pitchFamily="34" charset="-122"/>
                <a:cs typeface="Calibri" pitchFamily="34" charset="-120"/>
              </a:rPr>
              <a:t>System Flow</a:t>
            </a:r>
            <a:endParaRPr lang="en-US" sz="1050" dirty="0"/>
          </a:p>
        </p:txBody>
      </p:sp>
      <p:sp>
        <p:nvSpPr>
          <p:cNvPr id="21" name="Shape 19"/>
          <p:cNvSpPr/>
          <p:nvPr/>
        </p:nvSpPr>
        <p:spPr>
          <a:xfrm>
            <a:off x="6995160" y="1874520"/>
            <a:ext cx="4251960" cy="512064"/>
          </a:xfrm>
          <a:prstGeom prst="rect">
            <a:avLst>
              <a:gd name="adj" fmla="val 7143"/>
            </a:avLst>
          </a:prstGeom>
          <a:solidFill>
            <a:srgbClr val="FFFFFF"/>
          </a:solidFill>
          <a:ln w="13970">
            <a:solidFill>
              <a:srgbClr val="1A1A1A"/>
            </a:solidFill>
            <a:prstDash val="solid"/>
          </a:ln>
        </p:spPr>
      </p:sp>
      <p:sp>
        <p:nvSpPr>
          <p:cNvPr id="22" name="Text 20"/>
          <p:cNvSpPr/>
          <p:nvPr/>
        </p:nvSpPr>
        <p:spPr>
          <a:xfrm>
            <a:off x="7040880" y="1874520"/>
            <a:ext cx="4160520" cy="512064"/>
          </a:xfrm>
          <a:prstGeom prst="rect">
            <a:avLst/>
          </a:prstGeom>
          <a:noFill/>
          <a:ln/>
        </p:spPr>
        <p:txBody>
          <a:bodyPr wrap="square" lIns="0" tIns="0" rIns="0" bIns="0" rtlCol="0" anchor="ctr"/>
          <a:lstStyle/>
          <a:p>
            <a:pPr algn="ctr" indent="0" marL="0">
              <a:lnSpc>
                <a:spcPct val="105000"/>
              </a:lnSpc>
              <a:buNone/>
            </a:pPr>
            <a:r>
              <a:rPr lang="en-US" sz="1150" b="1" dirty="0">
                <a:solidFill>
                  <a:srgbClr val="1A1A1A"/>
                </a:solidFill>
                <a:latin typeface="Calibri" pitchFamily="34" charset="0"/>
                <a:ea typeface="Calibri" pitchFamily="34" charset="-122"/>
                <a:cs typeface="Calibri" pitchFamily="34" charset="-120"/>
              </a:rPr>
              <a:t>LIVE WEB</a:t>
            </a:r>
            <a:endParaRPr lang="en-US" sz="1150" dirty="0"/>
          </a:p>
          <a:p>
            <a:pPr algn="ctr" indent="0" marL="0">
              <a:lnSpc>
                <a:spcPct val="105000"/>
              </a:lnSpc>
              <a:buNone/>
            </a:pPr>
            <a:r>
              <a:rPr lang="en-US" sz="850" dirty="0">
                <a:solidFill>
                  <a:srgbClr val="4D4D4D"/>
                </a:solidFill>
                <a:latin typeface="Calibri" pitchFamily="34" charset="0"/>
                <a:ea typeface="Calibri" pitchFamily="34" charset="-122"/>
                <a:cs typeface="Calibri" pitchFamily="34" charset="-120"/>
              </a:rPr>
              <a:t>Hundreds of trillions of pages</a:t>
            </a:r>
            <a:endParaRPr lang="en-US" sz="1150" dirty="0"/>
          </a:p>
        </p:txBody>
      </p:sp>
      <p:sp>
        <p:nvSpPr>
          <p:cNvPr id="23" name="Shape 21"/>
          <p:cNvSpPr/>
          <p:nvPr/>
        </p:nvSpPr>
        <p:spPr>
          <a:xfrm>
            <a:off x="9121140" y="2386584"/>
            <a:ext cx="0" cy="123444"/>
          </a:xfrm>
          <a:prstGeom prst="line">
            <a:avLst/>
          </a:prstGeom>
          <a:noFill/>
          <a:ln w="19050">
            <a:solidFill>
              <a:srgbClr val="4D4D4D"/>
            </a:solidFill>
            <a:prstDash val="solid"/>
            <a:tailEnd type="triangle"/>
          </a:ln>
        </p:spPr>
      </p:sp>
      <p:sp>
        <p:nvSpPr>
          <p:cNvPr id="24" name="Shape 22"/>
          <p:cNvSpPr/>
          <p:nvPr/>
        </p:nvSpPr>
        <p:spPr>
          <a:xfrm>
            <a:off x="6995160" y="2510028"/>
            <a:ext cx="4251960" cy="512064"/>
          </a:xfrm>
          <a:prstGeom prst="rect">
            <a:avLst>
              <a:gd name="adj" fmla="val 7143"/>
            </a:avLst>
          </a:prstGeom>
          <a:solidFill>
            <a:srgbClr val="F4F4F4"/>
          </a:solidFill>
          <a:ln w="13970">
            <a:solidFill>
              <a:srgbClr val="1A1A1A"/>
            </a:solidFill>
            <a:prstDash val="solid"/>
          </a:ln>
        </p:spPr>
      </p:sp>
      <p:sp>
        <p:nvSpPr>
          <p:cNvPr id="25" name="Text 23"/>
          <p:cNvSpPr/>
          <p:nvPr/>
        </p:nvSpPr>
        <p:spPr>
          <a:xfrm>
            <a:off x="7040880" y="2510028"/>
            <a:ext cx="4160520" cy="512064"/>
          </a:xfrm>
          <a:prstGeom prst="rect">
            <a:avLst/>
          </a:prstGeom>
          <a:noFill/>
          <a:ln/>
        </p:spPr>
        <p:txBody>
          <a:bodyPr wrap="square" lIns="0" tIns="0" rIns="0" bIns="0" rtlCol="0" anchor="ctr"/>
          <a:lstStyle/>
          <a:p>
            <a:pPr algn="ctr" indent="0" marL="0">
              <a:lnSpc>
                <a:spcPct val="105000"/>
              </a:lnSpc>
              <a:buNone/>
            </a:pPr>
            <a:r>
              <a:rPr lang="en-US" sz="1150" b="1" dirty="0">
                <a:solidFill>
                  <a:srgbClr val="1A1A1A"/>
                </a:solidFill>
                <a:latin typeface="Calibri" pitchFamily="34" charset="0"/>
                <a:ea typeface="Calibri" pitchFamily="34" charset="-122"/>
                <a:cs typeface="Calibri" pitchFamily="34" charset="-120"/>
              </a:rPr>
              <a:t>REAL-TIME QUERY OF THE LIVE WEB</a:t>
            </a:r>
            <a:endParaRPr lang="en-US" sz="1150" dirty="0"/>
          </a:p>
          <a:p>
            <a:pPr algn="ctr" indent="0" marL="0">
              <a:lnSpc>
                <a:spcPct val="105000"/>
              </a:lnSpc>
              <a:buNone/>
            </a:pPr>
            <a:r>
              <a:rPr lang="en-US" sz="850" dirty="0">
                <a:solidFill>
                  <a:srgbClr val="4D4D4D"/>
                </a:solidFill>
                <a:latin typeface="Calibri" pitchFamily="34" charset="0"/>
                <a:ea typeface="Calibri" pitchFamily="34" charset="-122"/>
                <a:cs typeface="Calibri" pitchFamily="34" charset="-120"/>
              </a:rPr>
              <a:t>Too slow and unreliable at query time</a:t>
            </a:r>
            <a:endParaRPr lang="en-US" sz="1150" dirty="0"/>
          </a:p>
        </p:txBody>
      </p:sp>
      <p:sp>
        <p:nvSpPr>
          <p:cNvPr id="26" name="Shape 24"/>
          <p:cNvSpPr/>
          <p:nvPr/>
        </p:nvSpPr>
        <p:spPr>
          <a:xfrm>
            <a:off x="9121140" y="3022092"/>
            <a:ext cx="0" cy="123444"/>
          </a:xfrm>
          <a:prstGeom prst="line">
            <a:avLst/>
          </a:prstGeom>
          <a:noFill/>
          <a:ln w="19050">
            <a:solidFill>
              <a:srgbClr val="4D4D4D"/>
            </a:solidFill>
            <a:prstDash val="solid"/>
            <a:tailEnd type="triangle"/>
          </a:ln>
        </p:spPr>
      </p:sp>
      <p:sp>
        <p:nvSpPr>
          <p:cNvPr id="27" name="Shape 25"/>
          <p:cNvSpPr/>
          <p:nvPr/>
        </p:nvSpPr>
        <p:spPr>
          <a:xfrm>
            <a:off x="6995160" y="3145536"/>
            <a:ext cx="4251960" cy="512064"/>
          </a:xfrm>
          <a:prstGeom prst="rect">
            <a:avLst>
              <a:gd name="adj" fmla="val 7143"/>
            </a:avLst>
          </a:prstGeom>
          <a:solidFill>
            <a:srgbClr val="FFFFFF"/>
          </a:solidFill>
          <a:ln w="13970">
            <a:solidFill>
              <a:srgbClr val="1A1A1A"/>
            </a:solidFill>
            <a:prstDash val="solid"/>
          </a:ln>
        </p:spPr>
      </p:sp>
      <p:sp>
        <p:nvSpPr>
          <p:cNvPr id="28" name="Text 26"/>
          <p:cNvSpPr/>
          <p:nvPr/>
        </p:nvSpPr>
        <p:spPr>
          <a:xfrm>
            <a:off x="7040880" y="3145536"/>
            <a:ext cx="4160520" cy="512064"/>
          </a:xfrm>
          <a:prstGeom prst="rect">
            <a:avLst/>
          </a:prstGeom>
          <a:noFill/>
          <a:ln/>
        </p:spPr>
        <p:txBody>
          <a:bodyPr wrap="square" lIns="0" tIns="0" rIns="0" bIns="0" rtlCol="0" anchor="ctr"/>
          <a:lstStyle/>
          <a:p>
            <a:pPr algn="ctr" indent="0" marL="0">
              <a:lnSpc>
                <a:spcPct val="105000"/>
              </a:lnSpc>
              <a:buNone/>
            </a:pPr>
            <a:r>
              <a:rPr lang="en-US" sz="1150" b="1" dirty="0">
                <a:solidFill>
                  <a:srgbClr val="1A1A1A"/>
                </a:solidFill>
                <a:latin typeface="Calibri" pitchFamily="34" charset="0"/>
                <a:ea typeface="Calibri" pitchFamily="34" charset="-122"/>
                <a:cs typeface="Calibri" pitchFamily="34" charset="-120"/>
              </a:rPr>
              <a:t>PRE-BUILT SEARCH INDEX</a:t>
            </a:r>
            <a:endParaRPr lang="en-US" sz="1150" dirty="0"/>
          </a:p>
          <a:p>
            <a:pPr algn="ctr" indent="0" marL="0">
              <a:lnSpc>
                <a:spcPct val="105000"/>
              </a:lnSpc>
              <a:buNone/>
            </a:pPr>
            <a:r>
              <a:rPr lang="en-US" sz="850" dirty="0">
                <a:solidFill>
                  <a:srgbClr val="4D4D4D"/>
                </a:solidFill>
                <a:latin typeface="Calibri" pitchFamily="34" charset="0"/>
                <a:ea typeface="Calibri" pitchFamily="34" charset="-122"/>
                <a:cs typeface="Calibri" pitchFamily="34" charset="-120"/>
              </a:rPr>
              <a:t>Expensive work is done in advance</a:t>
            </a:r>
            <a:endParaRPr lang="en-US" sz="1150" dirty="0"/>
          </a:p>
        </p:txBody>
      </p:sp>
      <p:sp>
        <p:nvSpPr>
          <p:cNvPr id="29" name="Shape 27"/>
          <p:cNvSpPr/>
          <p:nvPr/>
        </p:nvSpPr>
        <p:spPr>
          <a:xfrm>
            <a:off x="9121140" y="3657600"/>
            <a:ext cx="0" cy="123444"/>
          </a:xfrm>
          <a:prstGeom prst="line">
            <a:avLst/>
          </a:prstGeom>
          <a:noFill/>
          <a:ln w="19050">
            <a:solidFill>
              <a:srgbClr val="4D4D4D"/>
            </a:solidFill>
            <a:prstDash val="solid"/>
            <a:tailEnd type="triangle"/>
          </a:ln>
        </p:spPr>
      </p:sp>
      <p:sp>
        <p:nvSpPr>
          <p:cNvPr id="30" name="Shape 28"/>
          <p:cNvSpPr/>
          <p:nvPr/>
        </p:nvSpPr>
        <p:spPr>
          <a:xfrm>
            <a:off x="6995160" y="3781044"/>
            <a:ext cx="4251960" cy="512064"/>
          </a:xfrm>
          <a:prstGeom prst="rect">
            <a:avLst>
              <a:gd name="adj" fmla="val 7143"/>
            </a:avLst>
          </a:prstGeom>
          <a:solidFill>
            <a:srgbClr val="FFFFFF"/>
          </a:solidFill>
          <a:ln w="13970">
            <a:solidFill>
              <a:srgbClr val="1A1A1A"/>
            </a:solidFill>
            <a:prstDash val="solid"/>
          </a:ln>
        </p:spPr>
      </p:sp>
      <p:sp>
        <p:nvSpPr>
          <p:cNvPr id="31" name="Text 29"/>
          <p:cNvSpPr/>
          <p:nvPr/>
        </p:nvSpPr>
        <p:spPr>
          <a:xfrm>
            <a:off x="7040880" y="3781044"/>
            <a:ext cx="4160520" cy="512064"/>
          </a:xfrm>
          <a:prstGeom prst="rect">
            <a:avLst/>
          </a:prstGeom>
          <a:noFill/>
          <a:ln/>
        </p:spPr>
        <p:txBody>
          <a:bodyPr wrap="square" lIns="0" tIns="0" rIns="0" bIns="0" rtlCol="0" anchor="ctr"/>
          <a:lstStyle/>
          <a:p>
            <a:pPr algn="ctr" indent="0" marL="0">
              <a:lnSpc>
                <a:spcPct val="105000"/>
              </a:lnSpc>
              <a:buNone/>
            </a:pPr>
            <a:r>
              <a:rPr lang="en-US" sz="1150" b="1" dirty="0">
                <a:solidFill>
                  <a:srgbClr val="1A1A1A"/>
                </a:solidFill>
                <a:latin typeface="Calibri" pitchFamily="34" charset="0"/>
                <a:ea typeface="Calibri" pitchFamily="34" charset="-122"/>
                <a:cs typeface="Calibri" pitchFamily="34" charset="-120"/>
              </a:rPr>
              <a:t>USER QUERY</a:t>
            </a:r>
            <a:endParaRPr lang="en-US" sz="1150" dirty="0"/>
          </a:p>
        </p:txBody>
      </p:sp>
      <p:sp>
        <p:nvSpPr>
          <p:cNvPr id="32" name="Shape 30"/>
          <p:cNvSpPr/>
          <p:nvPr/>
        </p:nvSpPr>
        <p:spPr>
          <a:xfrm>
            <a:off x="9121140" y="4293108"/>
            <a:ext cx="0" cy="123444"/>
          </a:xfrm>
          <a:prstGeom prst="line">
            <a:avLst/>
          </a:prstGeom>
          <a:noFill/>
          <a:ln w="19050">
            <a:solidFill>
              <a:srgbClr val="4D4D4D"/>
            </a:solidFill>
            <a:prstDash val="solid"/>
            <a:tailEnd type="triangle"/>
          </a:ln>
        </p:spPr>
      </p:sp>
      <p:sp>
        <p:nvSpPr>
          <p:cNvPr id="33" name="Shape 31"/>
          <p:cNvSpPr/>
          <p:nvPr/>
        </p:nvSpPr>
        <p:spPr>
          <a:xfrm>
            <a:off x="6995160" y="4416552"/>
            <a:ext cx="4251960" cy="512064"/>
          </a:xfrm>
          <a:prstGeom prst="rect">
            <a:avLst>
              <a:gd name="adj" fmla="val 7143"/>
            </a:avLst>
          </a:prstGeom>
          <a:solidFill>
            <a:srgbClr val="FFFFFF"/>
          </a:solidFill>
          <a:ln w="13970">
            <a:solidFill>
              <a:srgbClr val="1A1A1A"/>
            </a:solidFill>
            <a:prstDash val="solid"/>
          </a:ln>
        </p:spPr>
      </p:sp>
      <p:sp>
        <p:nvSpPr>
          <p:cNvPr id="34" name="Text 32"/>
          <p:cNvSpPr/>
          <p:nvPr/>
        </p:nvSpPr>
        <p:spPr>
          <a:xfrm>
            <a:off x="7040880" y="4416552"/>
            <a:ext cx="4160520" cy="512064"/>
          </a:xfrm>
          <a:prstGeom prst="rect">
            <a:avLst/>
          </a:prstGeom>
          <a:noFill/>
          <a:ln/>
        </p:spPr>
        <p:txBody>
          <a:bodyPr wrap="square" lIns="0" tIns="0" rIns="0" bIns="0" rtlCol="0" anchor="ctr"/>
          <a:lstStyle/>
          <a:p>
            <a:pPr algn="ctr" indent="0" marL="0">
              <a:lnSpc>
                <a:spcPct val="105000"/>
              </a:lnSpc>
              <a:buNone/>
            </a:pPr>
            <a:r>
              <a:rPr lang="en-US" sz="1150" b="1" dirty="0">
                <a:solidFill>
                  <a:srgbClr val="1A1A1A"/>
                </a:solidFill>
                <a:latin typeface="Calibri" pitchFamily="34" charset="0"/>
                <a:ea typeface="Calibri" pitchFamily="34" charset="-122"/>
                <a:cs typeface="Calibri" pitchFamily="34" charset="-120"/>
              </a:rPr>
              <a:t>FAST RETRIEVAL + RANKING</a:t>
            </a:r>
            <a:endParaRPr lang="en-US" sz="1150" dirty="0"/>
          </a:p>
        </p:txBody>
      </p:sp>
      <p:sp>
        <p:nvSpPr>
          <p:cNvPr id="35" name="Shape 33"/>
          <p:cNvSpPr/>
          <p:nvPr/>
        </p:nvSpPr>
        <p:spPr>
          <a:xfrm>
            <a:off x="9121140" y="4928616"/>
            <a:ext cx="0" cy="123444"/>
          </a:xfrm>
          <a:prstGeom prst="line">
            <a:avLst/>
          </a:prstGeom>
          <a:noFill/>
          <a:ln w="19050">
            <a:solidFill>
              <a:srgbClr val="4D4D4D"/>
            </a:solidFill>
            <a:prstDash val="solid"/>
            <a:tailEnd type="triangle"/>
          </a:ln>
        </p:spPr>
      </p:sp>
      <p:sp>
        <p:nvSpPr>
          <p:cNvPr id="36" name="Shape 34"/>
          <p:cNvSpPr/>
          <p:nvPr/>
        </p:nvSpPr>
        <p:spPr>
          <a:xfrm>
            <a:off x="6995160" y="5052060"/>
            <a:ext cx="4251960" cy="512064"/>
          </a:xfrm>
          <a:prstGeom prst="rect">
            <a:avLst>
              <a:gd name="adj" fmla="val 7143"/>
            </a:avLst>
          </a:prstGeom>
          <a:solidFill>
            <a:srgbClr val="1A1A1A"/>
          </a:solidFill>
          <a:ln w="13970">
            <a:solidFill>
              <a:srgbClr val="1A1A1A"/>
            </a:solidFill>
            <a:prstDash val="solid"/>
          </a:ln>
        </p:spPr>
      </p:sp>
      <p:sp>
        <p:nvSpPr>
          <p:cNvPr id="37" name="Text 35"/>
          <p:cNvSpPr/>
          <p:nvPr/>
        </p:nvSpPr>
        <p:spPr>
          <a:xfrm>
            <a:off x="7040880" y="5052060"/>
            <a:ext cx="4160520" cy="512064"/>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FINAL SERP</a:t>
            </a:r>
            <a:endParaRPr lang="en-US" sz="1150" dirty="0"/>
          </a:p>
        </p:txBody>
      </p:sp>
      <p:sp>
        <p:nvSpPr>
          <p:cNvPr id="38" name="Shape 36"/>
          <p:cNvSpPr/>
          <p:nvPr/>
        </p:nvSpPr>
        <p:spPr>
          <a:xfrm>
            <a:off x="457200" y="6053328"/>
            <a:ext cx="11274552" cy="502920"/>
          </a:xfrm>
          <a:prstGeom prst="rect">
            <a:avLst>
              <a:gd name="adj" fmla="val 7273"/>
            </a:avLst>
          </a:prstGeom>
          <a:solidFill>
            <a:srgbClr val="1A1A1A"/>
          </a:solidFill>
          <a:ln/>
        </p:spPr>
      </p:sp>
      <p:sp>
        <p:nvSpPr>
          <p:cNvPr id="39" name="Text 37"/>
          <p:cNvSpPr/>
          <p:nvPr/>
        </p:nvSpPr>
        <p:spPr>
          <a:xfrm>
            <a:off x="685800" y="6053328"/>
            <a:ext cx="10817352" cy="502920"/>
          </a:xfrm>
          <a:prstGeom prst="rect">
            <a:avLst/>
          </a:prstGeom>
          <a:noFill/>
          <a:ln/>
        </p:spPr>
        <p:txBody>
          <a:bodyPr wrap="square" lIns="0" tIns="0" rIns="0" bIns="0" rtlCol="0" anchor="ctr"/>
          <a:lstStyle/>
          <a:p>
            <a:pPr algn="ctr" indent="0" marL="0">
              <a:buNone/>
            </a:pPr>
            <a:r>
              <a:rPr lang="en-US" sz="1300" b="1" i="1" dirty="0">
                <a:solidFill>
                  <a:srgbClr val="FFFFFF"/>
                </a:solidFill>
                <a:latin typeface="Calibri" pitchFamily="34" charset="0"/>
                <a:ea typeface="Calibri" pitchFamily="34" charset="-122"/>
                <a:cs typeface="Calibri" pitchFamily="34" charset="-120"/>
              </a:rPr>
              <a:t>Core idea:  Move expensive work BEFORE the user searches.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274320"/>
          </a:xfrm>
          <a:prstGeom prst="rect">
            <a:avLst/>
          </a:prstGeom>
          <a:noFill/>
          <a:ln/>
        </p:spPr>
        <p:txBody>
          <a:bodyPr wrap="square" lIns="0" tIns="0" rIns="0" bIns="0" rtlCol="0" anchor="ctr"/>
          <a:lstStyle/>
          <a:p>
            <a:pPr indent="0" marL="0">
              <a:buNone/>
            </a:pPr>
            <a:r>
              <a:rPr lang="en-US" sz="1100" b="1" spc="200" kern="0" dirty="0">
                <a:solidFill>
                  <a:srgbClr val="7A7A7A"/>
                </a:solidFill>
                <a:latin typeface="Calibri" pitchFamily="34" charset="0"/>
                <a:ea typeface="Calibri" pitchFamily="34" charset="-122"/>
                <a:cs typeface="Calibri" pitchFamily="34" charset="-120"/>
              </a:rPr>
              <a:t>AREA 1</a:t>
            </a:r>
            <a:endParaRPr lang="en-US" sz="1100" dirty="0"/>
          </a:p>
        </p:txBody>
      </p:sp>
      <p:sp>
        <p:nvSpPr>
          <p:cNvPr id="3" name="Text 1"/>
          <p:cNvSpPr/>
          <p:nvPr/>
        </p:nvSpPr>
        <p:spPr>
          <a:xfrm>
            <a:off x="457200" y="502920"/>
            <a:ext cx="11247120" cy="64008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Crawling &amp; Indexing Infrastructure</a:t>
            </a:r>
            <a:endParaRPr lang="en-US" sz="3000" dirty="0"/>
          </a:p>
        </p:txBody>
      </p:sp>
      <p:sp>
        <p:nvSpPr>
          <p:cNvPr id="4" name="Text 2"/>
          <p:cNvSpPr/>
          <p:nvPr/>
        </p:nvSpPr>
        <p:spPr>
          <a:xfrm>
            <a:off x="11612880" y="6510528"/>
            <a:ext cx="365760" cy="274320"/>
          </a:xfrm>
          <a:prstGeom prst="rect">
            <a:avLst/>
          </a:prstGeom>
          <a:noFill/>
          <a:ln/>
        </p:spPr>
        <p:txBody>
          <a:bodyPr wrap="square" lIns="0" tIns="0" rIns="0" bIns="0" rtlCol="0" anchor="ctr"/>
          <a:lstStyle/>
          <a:p>
            <a:pPr algn="r" indent="0" marL="0">
              <a:buNone/>
            </a:pPr>
            <a:r>
              <a:rPr lang="en-US" sz="1000" dirty="0">
                <a:solidFill>
                  <a:srgbClr val="ADADAD"/>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457200" y="1508760"/>
            <a:ext cx="1297648" cy="868680"/>
          </a:xfrm>
          <a:prstGeom prst="rect">
            <a:avLst>
              <a:gd name="adj" fmla="val 4211"/>
            </a:avLst>
          </a:prstGeom>
          <a:solidFill>
            <a:srgbClr val="FFFFFF"/>
          </a:solidFill>
          <a:ln w="14605">
            <a:solidFill>
              <a:srgbClr val="1A1A1A"/>
            </a:solidFill>
            <a:prstDash val="solid"/>
          </a:ln>
        </p:spPr>
      </p:sp>
      <p:sp>
        <p:nvSpPr>
          <p:cNvPr id="6" name="Text 4"/>
          <p:cNvSpPr/>
          <p:nvPr/>
        </p:nvSpPr>
        <p:spPr>
          <a:xfrm>
            <a:off x="502920" y="1508760"/>
            <a:ext cx="1206208" cy="868680"/>
          </a:xfrm>
          <a:prstGeom prst="rect">
            <a:avLst/>
          </a:prstGeom>
          <a:noFill/>
          <a:ln/>
        </p:spPr>
        <p:txBody>
          <a:bodyPr wrap="square" lIns="0" tIns="0" rIns="0" bIns="0" rtlCol="0" anchor="ctr"/>
          <a:lstStyle/>
          <a:p>
            <a:pPr algn="ctr" indent="0" marL="0">
              <a:lnSpc>
                <a:spcPct val="105000"/>
              </a:lnSpc>
              <a:buNone/>
            </a:pPr>
            <a:r>
              <a:rPr lang="en-US" sz="1020" b="1" dirty="0">
                <a:solidFill>
                  <a:srgbClr val="1A1A1A"/>
                </a:solidFill>
                <a:latin typeface="Calibri" pitchFamily="34" charset="0"/>
                <a:ea typeface="Calibri" pitchFamily="34" charset="-122"/>
                <a:cs typeface="Calibri" pitchFamily="34" charset="-120"/>
              </a:rPr>
              <a:t>WEB</a:t>
            </a:r>
            <a:endParaRPr lang="en-US" sz="1020" dirty="0"/>
          </a:p>
          <a:p>
            <a:pPr algn="ctr" indent="0" marL="0">
              <a:lnSpc>
                <a:spcPct val="105000"/>
              </a:lnSpc>
              <a:buNone/>
            </a:pPr>
            <a:r>
              <a:rPr lang="en-US" sz="1020" b="1" dirty="0">
                <a:solidFill>
                  <a:srgbClr val="1A1A1A"/>
                </a:solidFill>
                <a:latin typeface="Calibri" pitchFamily="34" charset="0"/>
                <a:ea typeface="Calibri" pitchFamily="34" charset="-122"/>
                <a:cs typeface="Calibri" pitchFamily="34" charset="-120"/>
              </a:rPr>
              <a:t>CONTENT</a:t>
            </a:r>
            <a:endParaRPr lang="en-US" sz="1020" dirty="0"/>
          </a:p>
        </p:txBody>
      </p:sp>
      <p:sp>
        <p:nvSpPr>
          <p:cNvPr id="7" name="Shape 5"/>
          <p:cNvSpPr/>
          <p:nvPr/>
        </p:nvSpPr>
        <p:spPr>
          <a:xfrm>
            <a:off x="1754848" y="1943100"/>
            <a:ext cx="128016" cy="0"/>
          </a:xfrm>
          <a:prstGeom prst="line">
            <a:avLst/>
          </a:prstGeom>
          <a:noFill/>
          <a:ln w="19050">
            <a:solidFill>
              <a:srgbClr val="4D4D4D"/>
            </a:solidFill>
            <a:prstDash val="solid"/>
            <a:tailEnd type="triangle"/>
          </a:ln>
        </p:spPr>
      </p:sp>
      <p:sp>
        <p:nvSpPr>
          <p:cNvPr id="8" name="Shape 6"/>
          <p:cNvSpPr/>
          <p:nvPr/>
        </p:nvSpPr>
        <p:spPr>
          <a:xfrm>
            <a:off x="1882864" y="1508760"/>
            <a:ext cx="1297648" cy="868680"/>
          </a:xfrm>
          <a:prstGeom prst="rect">
            <a:avLst>
              <a:gd name="adj" fmla="val 4211"/>
            </a:avLst>
          </a:prstGeom>
          <a:solidFill>
            <a:srgbClr val="FFFFFF"/>
          </a:solidFill>
          <a:ln w="14605">
            <a:solidFill>
              <a:srgbClr val="1A1A1A"/>
            </a:solidFill>
            <a:prstDash val="solid"/>
          </a:ln>
        </p:spPr>
      </p:sp>
      <p:sp>
        <p:nvSpPr>
          <p:cNvPr id="9" name="Text 7"/>
          <p:cNvSpPr/>
          <p:nvPr/>
        </p:nvSpPr>
        <p:spPr>
          <a:xfrm>
            <a:off x="1928584" y="1508760"/>
            <a:ext cx="1206208" cy="868680"/>
          </a:xfrm>
          <a:prstGeom prst="rect">
            <a:avLst/>
          </a:prstGeom>
          <a:noFill/>
          <a:ln/>
        </p:spPr>
        <p:txBody>
          <a:bodyPr wrap="square" lIns="0" tIns="0" rIns="0" bIns="0" rtlCol="0" anchor="ctr"/>
          <a:lstStyle/>
          <a:p>
            <a:pPr algn="ctr" indent="0" marL="0">
              <a:lnSpc>
                <a:spcPct val="105000"/>
              </a:lnSpc>
              <a:buNone/>
            </a:pPr>
            <a:r>
              <a:rPr lang="en-US" sz="1020" b="1" dirty="0">
                <a:solidFill>
                  <a:srgbClr val="1A1A1A"/>
                </a:solidFill>
                <a:latin typeface="Calibri" pitchFamily="34" charset="0"/>
                <a:ea typeface="Calibri" pitchFamily="34" charset="-122"/>
                <a:cs typeface="Calibri" pitchFamily="34" charset="-120"/>
              </a:rPr>
              <a:t>URL</a:t>
            </a:r>
            <a:endParaRPr lang="en-US" sz="1020" dirty="0"/>
          </a:p>
          <a:p>
            <a:pPr algn="ctr" indent="0" marL="0">
              <a:lnSpc>
                <a:spcPct val="105000"/>
              </a:lnSpc>
              <a:buNone/>
            </a:pPr>
            <a:r>
              <a:rPr lang="en-US" sz="1020" b="1" dirty="0">
                <a:solidFill>
                  <a:srgbClr val="1A1A1A"/>
                </a:solidFill>
                <a:latin typeface="Calibri" pitchFamily="34" charset="0"/>
                <a:ea typeface="Calibri" pitchFamily="34" charset="-122"/>
                <a:cs typeface="Calibri" pitchFamily="34" charset="-120"/>
              </a:rPr>
              <a:t>FRONTIER</a:t>
            </a:r>
            <a:endParaRPr lang="en-US" sz="1020" dirty="0"/>
          </a:p>
        </p:txBody>
      </p:sp>
      <p:sp>
        <p:nvSpPr>
          <p:cNvPr id="10" name="Shape 8"/>
          <p:cNvSpPr/>
          <p:nvPr/>
        </p:nvSpPr>
        <p:spPr>
          <a:xfrm>
            <a:off x="3180512" y="1943100"/>
            <a:ext cx="128016" cy="0"/>
          </a:xfrm>
          <a:prstGeom prst="line">
            <a:avLst/>
          </a:prstGeom>
          <a:noFill/>
          <a:ln w="19050">
            <a:solidFill>
              <a:srgbClr val="4D4D4D"/>
            </a:solidFill>
            <a:prstDash val="solid"/>
            <a:tailEnd type="triangle"/>
          </a:ln>
        </p:spPr>
      </p:sp>
      <p:sp>
        <p:nvSpPr>
          <p:cNvPr id="11" name="Shape 9"/>
          <p:cNvSpPr/>
          <p:nvPr/>
        </p:nvSpPr>
        <p:spPr>
          <a:xfrm>
            <a:off x="3308528" y="1508760"/>
            <a:ext cx="1297648" cy="868680"/>
          </a:xfrm>
          <a:prstGeom prst="rect">
            <a:avLst>
              <a:gd name="adj" fmla="val 4211"/>
            </a:avLst>
          </a:prstGeom>
          <a:solidFill>
            <a:srgbClr val="FFFFFF"/>
          </a:solidFill>
          <a:ln w="14605">
            <a:solidFill>
              <a:srgbClr val="1A1A1A"/>
            </a:solidFill>
            <a:prstDash val="solid"/>
          </a:ln>
        </p:spPr>
      </p:sp>
      <p:sp>
        <p:nvSpPr>
          <p:cNvPr id="12" name="Text 10"/>
          <p:cNvSpPr/>
          <p:nvPr/>
        </p:nvSpPr>
        <p:spPr>
          <a:xfrm>
            <a:off x="3354248" y="1508760"/>
            <a:ext cx="1206208" cy="868680"/>
          </a:xfrm>
          <a:prstGeom prst="rect">
            <a:avLst/>
          </a:prstGeom>
          <a:noFill/>
          <a:ln/>
        </p:spPr>
        <p:txBody>
          <a:bodyPr wrap="square" lIns="0" tIns="0" rIns="0" bIns="0" rtlCol="0" anchor="ctr"/>
          <a:lstStyle/>
          <a:p>
            <a:pPr algn="ctr" indent="0" marL="0">
              <a:lnSpc>
                <a:spcPct val="105000"/>
              </a:lnSpc>
              <a:buNone/>
            </a:pPr>
            <a:r>
              <a:rPr lang="en-US" sz="1020" b="1" dirty="0">
                <a:solidFill>
                  <a:srgbClr val="1A1A1A"/>
                </a:solidFill>
                <a:latin typeface="Calibri" pitchFamily="34" charset="0"/>
                <a:ea typeface="Calibri" pitchFamily="34" charset="-122"/>
                <a:cs typeface="Calibri" pitchFamily="34" charset="-120"/>
              </a:rPr>
              <a:t>CRAWL BUDGET /</a:t>
            </a:r>
            <a:endParaRPr lang="en-US" sz="1020" dirty="0"/>
          </a:p>
          <a:p>
            <a:pPr algn="ctr" indent="0" marL="0">
              <a:lnSpc>
                <a:spcPct val="105000"/>
              </a:lnSpc>
              <a:buNone/>
            </a:pPr>
            <a:r>
              <a:rPr lang="en-US" sz="1020" b="1" dirty="0">
                <a:solidFill>
                  <a:srgbClr val="1A1A1A"/>
                </a:solidFill>
                <a:latin typeface="Calibri" pitchFamily="34" charset="0"/>
                <a:ea typeface="Calibri" pitchFamily="34" charset="-122"/>
                <a:cs typeface="Calibri" pitchFamily="34" charset="-120"/>
              </a:rPr>
              <a:t>SCHEDULING</a:t>
            </a:r>
            <a:endParaRPr lang="en-US" sz="1020" dirty="0"/>
          </a:p>
        </p:txBody>
      </p:sp>
      <p:sp>
        <p:nvSpPr>
          <p:cNvPr id="13" name="Shape 11"/>
          <p:cNvSpPr/>
          <p:nvPr/>
        </p:nvSpPr>
        <p:spPr>
          <a:xfrm>
            <a:off x="4606176" y="1943100"/>
            <a:ext cx="128016" cy="0"/>
          </a:xfrm>
          <a:prstGeom prst="line">
            <a:avLst/>
          </a:prstGeom>
          <a:noFill/>
          <a:ln w="19050">
            <a:solidFill>
              <a:srgbClr val="4D4D4D"/>
            </a:solidFill>
            <a:prstDash val="solid"/>
            <a:tailEnd type="triangle"/>
          </a:ln>
        </p:spPr>
      </p:sp>
      <p:sp>
        <p:nvSpPr>
          <p:cNvPr id="14" name="Shape 12"/>
          <p:cNvSpPr/>
          <p:nvPr/>
        </p:nvSpPr>
        <p:spPr>
          <a:xfrm>
            <a:off x="4734192" y="1508760"/>
            <a:ext cx="1297648" cy="868680"/>
          </a:xfrm>
          <a:prstGeom prst="rect">
            <a:avLst>
              <a:gd name="adj" fmla="val 4211"/>
            </a:avLst>
          </a:prstGeom>
          <a:solidFill>
            <a:srgbClr val="FFFFFF"/>
          </a:solidFill>
          <a:ln w="14605">
            <a:solidFill>
              <a:srgbClr val="1A1A1A"/>
            </a:solidFill>
            <a:prstDash val="solid"/>
          </a:ln>
        </p:spPr>
      </p:sp>
      <p:sp>
        <p:nvSpPr>
          <p:cNvPr id="15" name="Text 13"/>
          <p:cNvSpPr/>
          <p:nvPr/>
        </p:nvSpPr>
        <p:spPr>
          <a:xfrm>
            <a:off x="4779912" y="1508760"/>
            <a:ext cx="1206208" cy="868680"/>
          </a:xfrm>
          <a:prstGeom prst="rect">
            <a:avLst/>
          </a:prstGeom>
          <a:noFill/>
          <a:ln/>
        </p:spPr>
        <p:txBody>
          <a:bodyPr wrap="square" lIns="0" tIns="0" rIns="0" bIns="0" rtlCol="0" anchor="ctr"/>
          <a:lstStyle/>
          <a:p>
            <a:pPr algn="ctr" indent="0" marL="0">
              <a:lnSpc>
                <a:spcPct val="105000"/>
              </a:lnSpc>
              <a:buNone/>
            </a:pPr>
            <a:r>
              <a:rPr lang="en-US" sz="1020" b="1" dirty="0">
                <a:solidFill>
                  <a:srgbClr val="1A1A1A"/>
                </a:solidFill>
                <a:latin typeface="Calibri" pitchFamily="34" charset="0"/>
                <a:ea typeface="Calibri" pitchFamily="34" charset="-122"/>
                <a:cs typeface="Calibri" pitchFamily="34" charset="-120"/>
              </a:rPr>
              <a:t>GOOGLEBOT</a:t>
            </a:r>
            <a:endParaRPr lang="en-US" sz="1020" dirty="0"/>
          </a:p>
          <a:p>
            <a:pPr algn="ctr" indent="0" marL="0">
              <a:lnSpc>
                <a:spcPct val="105000"/>
              </a:lnSpc>
              <a:buNone/>
            </a:pPr>
            <a:r>
              <a:rPr lang="en-US" sz="1020" b="1" dirty="0">
                <a:solidFill>
                  <a:srgbClr val="1A1A1A"/>
                </a:solidFill>
                <a:latin typeface="Calibri" pitchFamily="34" charset="0"/>
                <a:ea typeface="Calibri" pitchFamily="34" charset="-122"/>
                <a:cs typeface="Calibri" pitchFamily="34" charset="-120"/>
              </a:rPr>
              <a:t>FETCH</a:t>
            </a:r>
            <a:endParaRPr lang="en-US" sz="1020" dirty="0"/>
          </a:p>
        </p:txBody>
      </p:sp>
      <p:sp>
        <p:nvSpPr>
          <p:cNvPr id="16" name="Shape 14"/>
          <p:cNvSpPr/>
          <p:nvPr/>
        </p:nvSpPr>
        <p:spPr>
          <a:xfrm>
            <a:off x="6031840" y="1943100"/>
            <a:ext cx="128016" cy="0"/>
          </a:xfrm>
          <a:prstGeom prst="line">
            <a:avLst/>
          </a:prstGeom>
          <a:noFill/>
          <a:ln w="19050">
            <a:solidFill>
              <a:srgbClr val="4D4D4D"/>
            </a:solidFill>
            <a:prstDash val="solid"/>
            <a:tailEnd type="triangle"/>
          </a:ln>
        </p:spPr>
      </p:sp>
      <p:sp>
        <p:nvSpPr>
          <p:cNvPr id="17" name="Shape 15"/>
          <p:cNvSpPr/>
          <p:nvPr/>
        </p:nvSpPr>
        <p:spPr>
          <a:xfrm>
            <a:off x="6159856" y="1508760"/>
            <a:ext cx="1297648" cy="868680"/>
          </a:xfrm>
          <a:prstGeom prst="rect">
            <a:avLst>
              <a:gd name="adj" fmla="val 4211"/>
            </a:avLst>
          </a:prstGeom>
          <a:solidFill>
            <a:srgbClr val="FFFFFF"/>
          </a:solidFill>
          <a:ln w="14605">
            <a:solidFill>
              <a:srgbClr val="1A1A1A"/>
            </a:solidFill>
            <a:prstDash val="solid"/>
          </a:ln>
        </p:spPr>
      </p:sp>
      <p:sp>
        <p:nvSpPr>
          <p:cNvPr id="18" name="Text 16"/>
          <p:cNvSpPr/>
          <p:nvPr/>
        </p:nvSpPr>
        <p:spPr>
          <a:xfrm>
            <a:off x="6205576" y="1508760"/>
            <a:ext cx="1206208" cy="868680"/>
          </a:xfrm>
          <a:prstGeom prst="rect">
            <a:avLst/>
          </a:prstGeom>
          <a:noFill/>
          <a:ln/>
        </p:spPr>
        <p:txBody>
          <a:bodyPr wrap="square" lIns="0" tIns="0" rIns="0" bIns="0" rtlCol="0" anchor="ctr"/>
          <a:lstStyle/>
          <a:p>
            <a:pPr algn="ctr" indent="0" marL="0">
              <a:lnSpc>
                <a:spcPct val="105000"/>
              </a:lnSpc>
              <a:buNone/>
            </a:pPr>
            <a:r>
              <a:rPr lang="en-US" sz="1020" b="1" dirty="0">
                <a:solidFill>
                  <a:srgbClr val="1A1A1A"/>
                </a:solidFill>
                <a:latin typeface="Calibri" pitchFamily="34" charset="0"/>
                <a:ea typeface="Calibri" pitchFamily="34" charset="-122"/>
                <a:cs typeface="Calibri" pitchFamily="34" charset="-120"/>
              </a:rPr>
              <a:t>TWO-WAVE</a:t>
            </a:r>
            <a:endParaRPr lang="en-US" sz="1020" dirty="0"/>
          </a:p>
          <a:p>
            <a:pPr algn="ctr" indent="0" marL="0">
              <a:lnSpc>
                <a:spcPct val="105000"/>
              </a:lnSpc>
              <a:buNone/>
            </a:pPr>
            <a:r>
              <a:rPr lang="en-US" sz="1020" b="1" dirty="0">
                <a:solidFill>
                  <a:srgbClr val="1A1A1A"/>
                </a:solidFill>
                <a:latin typeface="Calibri" pitchFamily="34" charset="0"/>
                <a:ea typeface="Calibri" pitchFamily="34" charset="-122"/>
                <a:cs typeface="Calibri" pitchFamily="34" charset="-120"/>
              </a:rPr>
              <a:t>RENDERING</a:t>
            </a:r>
            <a:endParaRPr lang="en-US" sz="1020" dirty="0"/>
          </a:p>
        </p:txBody>
      </p:sp>
      <p:sp>
        <p:nvSpPr>
          <p:cNvPr id="19" name="Shape 17"/>
          <p:cNvSpPr/>
          <p:nvPr/>
        </p:nvSpPr>
        <p:spPr>
          <a:xfrm>
            <a:off x="7457503" y="1943100"/>
            <a:ext cx="128016" cy="0"/>
          </a:xfrm>
          <a:prstGeom prst="line">
            <a:avLst/>
          </a:prstGeom>
          <a:noFill/>
          <a:ln w="19050">
            <a:solidFill>
              <a:srgbClr val="4D4D4D"/>
            </a:solidFill>
            <a:prstDash val="solid"/>
            <a:tailEnd type="triangle"/>
          </a:ln>
        </p:spPr>
      </p:sp>
      <p:sp>
        <p:nvSpPr>
          <p:cNvPr id="20" name="Shape 18"/>
          <p:cNvSpPr/>
          <p:nvPr/>
        </p:nvSpPr>
        <p:spPr>
          <a:xfrm>
            <a:off x="7585519" y="1508760"/>
            <a:ext cx="1297648" cy="868680"/>
          </a:xfrm>
          <a:prstGeom prst="rect">
            <a:avLst>
              <a:gd name="adj" fmla="val 4211"/>
            </a:avLst>
          </a:prstGeom>
          <a:solidFill>
            <a:srgbClr val="FFFFFF"/>
          </a:solidFill>
          <a:ln w="14605">
            <a:solidFill>
              <a:srgbClr val="1A1A1A"/>
            </a:solidFill>
            <a:prstDash val="solid"/>
          </a:ln>
        </p:spPr>
      </p:sp>
      <p:sp>
        <p:nvSpPr>
          <p:cNvPr id="21" name="Text 19"/>
          <p:cNvSpPr/>
          <p:nvPr/>
        </p:nvSpPr>
        <p:spPr>
          <a:xfrm>
            <a:off x="7631240" y="1508760"/>
            <a:ext cx="1206208" cy="868680"/>
          </a:xfrm>
          <a:prstGeom prst="rect">
            <a:avLst/>
          </a:prstGeom>
          <a:noFill/>
          <a:ln/>
        </p:spPr>
        <p:txBody>
          <a:bodyPr wrap="square" lIns="0" tIns="0" rIns="0" bIns="0" rtlCol="0" anchor="ctr"/>
          <a:lstStyle/>
          <a:p>
            <a:pPr algn="ctr" indent="0" marL="0">
              <a:lnSpc>
                <a:spcPct val="105000"/>
              </a:lnSpc>
              <a:buNone/>
            </a:pPr>
            <a:r>
              <a:rPr lang="en-US" sz="1020" b="1" dirty="0">
                <a:solidFill>
                  <a:srgbClr val="1A1A1A"/>
                </a:solidFill>
                <a:latin typeface="Calibri" pitchFamily="34" charset="0"/>
                <a:ea typeface="Calibri" pitchFamily="34" charset="-122"/>
                <a:cs typeface="Calibri" pitchFamily="34" charset="-120"/>
              </a:rPr>
              <a:t>SIMHASH</a:t>
            </a:r>
            <a:endParaRPr lang="en-US" sz="1020" dirty="0"/>
          </a:p>
          <a:p>
            <a:pPr algn="ctr" indent="0" marL="0">
              <a:lnSpc>
                <a:spcPct val="105000"/>
              </a:lnSpc>
              <a:buNone/>
            </a:pPr>
            <a:r>
              <a:rPr lang="en-US" sz="1020" b="1" dirty="0">
                <a:solidFill>
                  <a:srgbClr val="1A1A1A"/>
                </a:solidFill>
                <a:latin typeface="Calibri" pitchFamily="34" charset="0"/>
                <a:ea typeface="Calibri" pitchFamily="34" charset="-122"/>
                <a:cs typeface="Calibri" pitchFamily="34" charset="-120"/>
              </a:rPr>
              <a:t>DEDUPLICATION</a:t>
            </a:r>
            <a:endParaRPr lang="en-US" sz="1020" dirty="0"/>
          </a:p>
        </p:txBody>
      </p:sp>
      <p:sp>
        <p:nvSpPr>
          <p:cNvPr id="22" name="Shape 20"/>
          <p:cNvSpPr/>
          <p:nvPr/>
        </p:nvSpPr>
        <p:spPr>
          <a:xfrm>
            <a:off x="8883167" y="1943100"/>
            <a:ext cx="128016" cy="0"/>
          </a:xfrm>
          <a:prstGeom prst="line">
            <a:avLst/>
          </a:prstGeom>
          <a:noFill/>
          <a:ln w="19050">
            <a:solidFill>
              <a:srgbClr val="4D4D4D"/>
            </a:solidFill>
            <a:prstDash val="solid"/>
            <a:tailEnd type="triangle"/>
          </a:ln>
        </p:spPr>
      </p:sp>
      <p:sp>
        <p:nvSpPr>
          <p:cNvPr id="23" name="Shape 21"/>
          <p:cNvSpPr/>
          <p:nvPr/>
        </p:nvSpPr>
        <p:spPr>
          <a:xfrm>
            <a:off x="9011183" y="1508760"/>
            <a:ext cx="1297648" cy="868680"/>
          </a:xfrm>
          <a:prstGeom prst="rect">
            <a:avLst>
              <a:gd name="adj" fmla="val 4211"/>
            </a:avLst>
          </a:prstGeom>
          <a:solidFill>
            <a:srgbClr val="FFFFFF"/>
          </a:solidFill>
          <a:ln w="14605">
            <a:solidFill>
              <a:srgbClr val="1A1A1A"/>
            </a:solidFill>
            <a:prstDash val="solid"/>
          </a:ln>
        </p:spPr>
      </p:sp>
      <p:sp>
        <p:nvSpPr>
          <p:cNvPr id="24" name="Text 22"/>
          <p:cNvSpPr/>
          <p:nvPr/>
        </p:nvSpPr>
        <p:spPr>
          <a:xfrm>
            <a:off x="9056903" y="1508760"/>
            <a:ext cx="1206208" cy="868680"/>
          </a:xfrm>
          <a:prstGeom prst="rect">
            <a:avLst/>
          </a:prstGeom>
          <a:noFill/>
          <a:ln/>
        </p:spPr>
        <p:txBody>
          <a:bodyPr wrap="square" lIns="0" tIns="0" rIns="0" bIns="0" rtlCol="0" anchor="ctr"/>
          <a:lstStyle/>
          <a:p>
            <a:pPr algn="ctr" indent="0" marL="0">
              <a:lnSpc>
                <a:spcPct val="105000"/>
              </a:lnSpc>
              <a:buNone/>
            </a:pPr>
            <a:r>
              <a:rPr lang="en-US" sz="1020" b="1" dirty="0">
                <a:solidFill>
                  <a:srgbClr val="1A1A1A"/>
                </a:solidFill>
                <a:latin typeface="Calibri" pitchFamily="34" charset="0"/>
                <a:ea typeface="Calibri" pitchFamily="34" charset="-122"/>
                <a:cs typeface="Calibri" pitchFamily="34" charset="-120"/>
              </a:rPr>
              <a:t>INVERTED</a:t>
            </a:r>
            <a:endParaRPr lang="en-US" sz="1020" dirty="0"/>
          </a:p>
          <a:p>
            <a:pPr algn="ctr" indent="0" marL="0">
              <a:lnSpc>
                <a:spcPct val="105000"/>
              </a:lnSpc>
              <a:buNone/>
            </a:pPr>
            <a:r>
              <a:rPr lang="en-US" sz="1020" b="1" dirty="0">
                <a:solidFill>
                  <a:srgbClr val="1A1A1A"/>
                </a:solidFill>
                <a:latin typeface="Calibri" pitchFamily="34" charset="0"/>
                <a:ea typeface="Calibri" pitchFamily="34" charset="-122"/>
                <a:cs typeface="Calibri" pitchFamily="34" charset="-120"/>
              </a:rPr>
              <a:t>INDEX</a:t>
            </a:r>
            <a:endParaRPr lang="en-US" sz="1020" dirty="0"/>
          </a:p>
        </p:txBody>
      </p:sp>
      <p:sp>
        <p:nvSpPr>
          <p:cNvPr id="25" name="Shape 23"/>
          <p:cNvSpPr/>
          <p:nvPr/>
        </p:nvSpPr>
        <p:spPr>
          <a:xfrm>
            <a:off x="10308831" y="1943100"/>
            <a:ext cx="128016" cy="0"/>
          </a:xfrm>
          <a:prstGeom prst="line">
            <a:avLst/>
          </a:prstGeom>
          <a:noFill/>
          <a:ln w="19050">
            <a:solidFill>
              <a:srgbClr val="4D4D4D"/>
            </a:solidFill>
            <a:prstDash val="solid"/>
            <a:tailEnd type="triangle"/>
          </a:ln>
        </p:spPr>
      </p:sp>
      <p:sp>
        <p:nvSpPr>
          <p:cNvPr id="26" name="Shape 24"/>
          <p:cNvSpPr/>
          <p:nvPr/>
        </p:nvSpPr>
        <p:spPr>
          <a:xfrm>
            <a:off x="10436847" y="1508760"/>
            <a:ext cx="1297648" cy="868680"/>
          </a:xfrm>
          <a:prstGeom prst="rect">
            <a:avLst>
              <a:gd name="adj" fmla="val 4211"/>
            </a:avLst>
          </a:prstGeom>
          <a:solidFill>
            <a:srgbClr val="FFFFFF"/>
          </a:solidFill>
          <a:ln w="14605">
            <a:solidFill>
              <a:srgbClr val="1A1A1A"/>
            </a:solidFill>
            <a:prstDash val="solid"/>
          </a:ln>
        </p:spPr>
      </p:sp>
      <p:sp>
        <p:nvSpPr>
          <p:cNvPr id="27" name="Text 25"/>
          <p:cNvSpPr/>
          <p:nvPr/>
        </p:nvSpPr>
        <p:spPr>
          <a:xfrm>
            <a:off x="10482567" y="1508760"/>
            <a:ext cx="1206208" cy="868680"/>
          </a:xfrm>
          <a:prstGeom prst="rect">
            <a:avLst/>
          </a:prstGeom>
          <a:noFill/>
          <a:ln/>
        </p:spPr>
        <p:txBody>
          <a:bodyPr wrap="square" lIns="0" tIns="0" rIns="0" bIns="0" rtlCol="0" anchor="ctr"/>
          <a:lstStyle/>
          <a:p>
            <a:pPr algn="ctr" indent="0" marL="0">
              <a:lnSpc>
                <a:spcPct val="105000"/>
              </a:lnSpc>
              <a:buNone/>
            </a:pPr>
            <a:r>
              <a:rPr lang="en-US" sz="1020" b="1" dirty="0">
                <a:solidFill>
                  <a:srgbClr val="1A1A1A"/>
                </a:solidFill>
                <a:latin typeface="Calibri" pitchFamily="34" charset="0"/>
                <a:ea typeface="Calibri" pitchFamily="34" charset="-122"/>
                <a:cs typeface="Calibri" pitchFamily="34" charset="-120"/>
              </a:rPr>
              <a:t>DISTRIBUTED</a:t>
            </a:r>
            <a:endParaRPr lang="en-US" sz="1020" dirty="0"/>
          </a:p>
          <a:p>
            <a:pPr algn="ctr" indent="0" marL="0">
              <a:lnSpc>
                <a:spcPct val="105000"/>
              </a:lnSpc>
              <a:buNone/>
            </a:pPr>
            <a:r>
              <a:rPr lang="en-US" sz="1020" b="1" dirty="0">
                <a:solidFill>
                  <a:srgbClr val="1A1A1A"/>
                </a:solidFill>
                <a:latin typeface="Calibri" pitchFamily="34" charset="0"/>
                <a:ea typeface="Calibri" pitchFamily="34" charset="-122"/>
                <a:cs typeface="Calibri" pitchFamily="34" charset="-120"/>
              </a:rPr>
              <a:t>STORAGE</a:t>
            </a:r>
            <a:endParaRPr lang="en-US" sz="1020" dirty="0"/>
          </a:p>
        </p:txBody>
      </p:sp>
      <p:sp>
        <p:nvSpPr>
          <p:cNvPr id="28" name="Shape 26"/>
          <p:cNvSpPr/>
          <p:nvPr/>
        </p:nvSpPr>
        <p:spPr>
          <a:xfrm>
            <a:off x="2531688" y="2377440"/>
            <a:ext cx="0" cy="228600"/>
          </a:xfrm>
          <a:prstGeom prst="line">
            <a:avLst/>
          </a:prstGeom>
          <a:noFill/>
          <a:ln w="12700">
            <a:solidFill>
              <a:srgbClr val="C9C9C9"/>
            </a:solidFill>
            <a:prstDash val="solid"/>
          </a:ln>
        </p:spPr>
      </p:sp>
      <p:sp>
        <p:nvSpPr>
          <p:cNvPr id="29" name="Text 27"/>
          <p:cNvSpPr/>
          <p:nvPr/>
        </p:nvSpPr>
        <p:spPr>
          <a:xfrm>
            <a:off x="1846288" y="2697480"/>
            <a:ext cx="1370800" cy="1417320"/>
          </a:xfrm>
          <a:prstGeom prst="rect">
            <a:avLst/>
          </a:prstGeom>
          <a:noFill/>
          <a:ln/>
        </p:spPr>
        <p:txBody>
          <a:bodyPr wrap="square" lIns="0" tIns="0" rIns="0" bIns="0" rtlCol="0" anchor="t"/>
          <a:lstStyle/>
          <a:p>
            <a:pPr algn="ctr" indent="0" marL="0">
              <a:lnSpc>
                <a:spcPct val="112000"/>
              </a:lnSpc>
              <a:buNone/>
            </a:pPr>
            <a:r>
              <a:rPr lang="en-US" sz="860" dirty="0">
                <a:solidFill>
                  <a:srgbClr val="4D4D4D"/>
                </a:solidFill>
                <a:latin typeface="Calibri" pitchFamily="34" charset="0"/>
                <a:ea typeface="Calibri" pitchFamily="34" charset="-122"/>
                <a:cs typeface="Calibri" pitchFamily="34" charset="-120"/>
              </a:rPr>
              <a:t>Prioritizes discovered URLs while respecting per-domain crawl limits.</a:t>
            </a:r>
            <a:endParaRPr lang="en-US" sz="860" dirty="0"/>
          </a:p>
        </p:txBody>
      </p:sp>
      <p:sp>
        <p:nvSpPr>
          <p:cNvPr id="30" name="Shape 28"/>
          <p:cNvSpPr/>
          <p:nvPr/>
        </p:nvSpPr>
        <p:spPr>
          <a:xfrm>
            <a:off x="5383016" y="2377440"/>
            <a:ext cx="0" cy="228600"/>
          </a:xfrm>
          <a:prstGeom prst="line">
            <a:avLst/>
          </a:prstGeom>
          <a:noFill/>
          <a:ln w="12700">
            <a:solidFill>
              <a:srgbClr val="C9C9C9"/>
            </a:solidFill>
            <a:prstDash val="solid"/>
          </a:ln>
        </p:spPr>
      </p:sp>
      <p:sp>
        <p:nvSpPr>
          <p:cNvPr id="31" name="Text 29"/>
          <p:cNvSpPr/>
          <p:nvPr/>
        </p:nvSpPr>
        <p:spPr>
          <a:xfrm>
            <a:off x="4697616" y="2697480"/>
            <a:ext cx="1370800" cy="1417320"/>
          </a:xfrm>
          <a:prstGeom prst="rect">
            <a:avLst/>
          </a:prstGeom>
          <a:noFill/>
          <a:ln/>
        </p:spPr>
        <p:txBody>
          <a:bodyPr wrap="square" lIns="0" tIns="0" rIns="0" bIns="0" rtlCol="0" anchor="t"/>
          <a:lstStyle/>
          <a:p>
            <a:pPr algn="ctr" indent="0" marL="0">
              <a:lnSpc>
                <a:spcPct val="112000"/>
              </a:lnSpc>
              <a:buNone/>
            </a:pPr>
            <a:r>
              <a:rPr lang="en-US" sz="860" dirty="0">
                <a:solidFill>
                  <a:srgbClr val="4D4D4D"/>
                </a:solidFill>
                <a:latin typeface="Calibri" pitchFamily="34" charset="0"/>
                <a:ea typeface="Calibri" pitchFamily="34" charset="-122"/>
                <a:cs typeface="Calibri" pitchFamily="34" charset="-120"/>
              </a:rPr>
              <a:t>Fetches HTML and resources while respecting server constraints.</a:t>
            </a:r>
            <a:endParaRPr lang="en-US" sz="860" dirty="0"/>
          </a:p>
        </p:txBody>
      </p:sp>
      <p:sp>
        <p:nvSpPr>
          <p:cNvPr id="32" name="Shape 30"/>
          <p:cNvSpPr/>
          <p:nvPr/>
        </p:nvSpPr>
        <p:spPr>
          <a:xfrm>
            <a:off x="6808680" y="2377440"/>
            <a:ext cx="0" cy="228600"/>
          </a:xfrm>
          <a:prstGeom prst="line">
            <a:avLst/>
          </a:prstGeom>
          <a:noFill/>
          <a:ln w="12700">
            <a:solidFill>
              <a:srgbClr val="C9C9C9"/>
            </a:solidFill>
            <a:prstDash val="solid"/>
          </a:ln>
        </p:spPr>
      </p:sp>
      <p:sp>
        <p:nvSpPr>
          <p:cNvPr id="33" name="Text 31"/>
          <p:cNvSpPr/>
          <p:nvPr/>
        </p:nvSpPr>
        <p:spPr>
          <a:xfrm>
            <a:off x="6123280" y="2697480"/>
            <a:ext cx="1370800" cy="1417320"/>
          </a:xfrm>
          <a:prstGeom prst="rect">
            <a:avLst/>
          </a:prstGeom>
          <a:noFill/>
          <a:ln/>
        </p:spPr>
        <p:txBody>
          <a:bodyPr wrap="square" lIns="0" tIns="0" rIns="0" bIns="0" rtlCol="0" anchor="t"/>
          <a:lstStyle/>
          <a:p>
            <a:pPr algn="ctr" indent="0" marL="0">
              <a:lnSpc>
                <a:spcPct val="112000"/>
              </a:lnSpc>
              <a:buNone/>
            </a:pPr>
            <a:r>
              <a:rPr lang="en-US" sz="860" dirty="0">
                <a:solidFill>
                  <a:srgbClr val="4D4D4D"/>
                </a:solidFill>
                <a:latin typeface="Calibri" pitchFamily="34" charset="0"/>
                <a:ea typeface="Calibri" pitchFamily="34" charset="-122"/>
                <a:cs typeface="Calibri" pitchFamily="34" charset="-120"/>
              </a:rPr>
              <a:t>Wave 1 processes static HTML; Wave 2 handles JavaScript-dependent pages.</a:t>
            </a:r>
            <a:endParaRPr lang="en-US" sz="860" dirty="0"/>
          </a:p>
        </p:txBody>
      </p:sp>
      <p:sp>
        <p:nvSpPr>
          <p:cNvPr id="34" name="Shape 32"/>
          <p:cNvSpPr/>
          <p:nvPr/>
        </p:nvSpPr>
        <p:spPr>
          <a:xfrm>
            <a:off x="8234343" y="2377440"/>
            <a:ext cx="0" cy="228600"/>
          </a:xfrm>
          <a:prstGeom prst="line">
            <a:avLst/>
          </a:prstGeom>
          <a:noFill/>
          <a:ln w="12700">
            <a:solidFill>
              <a:srgbClr val="C9C9C9"/>
            </a:solidFill>
            <a:prstDash val="solid"/>
          </a:ln>
        </p:spPr>
      </p:sp>
      <p:sp>
        <p:nvSpPr>
          <p:cNvPr id="35" name="Text 33"/>
          <p:cNvSpPr/>
          <p:nvPr/>
        </p:nvSpPr>
        <p:spPr>
          <a:xfrm>
            <a:off x="7548944" y="2697480"/>
            <a:ext cx="1370800" cy="1417320"/>
          </a:xfrm>
          <a:prstGeom prst="rect">
            <a:avLst/>
          </a:prstGeom>
          <a:noFill/>
          <a:ln/>
        </p:spPr>
        <p:txBody>
          <a:bodyPr wrap="square" lIns="0" tIns="0" rIns="0" bIns="0" rtlCol="0" anchor="t"/>
          <a:lstStyle/>
          <a:p>
            <a:pPr algn="ctr" indent="0" marL="0">
              <a:lnSpc>
                <a:spcPct val="112000"/>
              </a:lnSpc>
              <a:buNone/>
            </a:pPr>
            <a:r>
              <a:rPr lang="en-US" sz="860" dirty="0">
                <a:solidFill>
                  <a:srgbClr val="4D4D4D"/>
                </a:solidFill>
                <a:latin typeface="Calibri" pitchFamily="34" charset="0"/>
                <a:ea typeface="Calibri" pitchFamily="34" charset="-122"/>
                <a:cs typeface="Calibri" pitchFamily="34" charset="-120"/>
              </a:rPr>
              <a:t>Detects near-duplicate content and supports canonical selection.</a:t>
            </a:r>
            <a:endParaRPr lang="en-US" sz="860" dirty="0"/>
          </a:p>
        </p:txBody>
      </p:sp>
      <p:sp>
        <p:nvSpPr>
          <p:cNvPr id="36" name="Shape 34"/>
          <p:cNvSpPr/>
          <p:nvPr/>
        </p:nvSpPr>
        <p:spPr>
          <a:xfrm>
            <a:off x="9660007" y="2377440"/>
            <a:ext cx="0" cy="228600"/>
          </a:xfrm>
          <a:prstGeom prst="line">
            <a:avLst/>
          </a:prstGeom>
          <a:noFill/>
          <a:ln w="12700">
            <a:solidFill>
              <a:srgbClr val="C9C9C9"/>
            </a:solidFill>
            <a:prstDash val="solid"/>
          </a:ln>
        </p:spPr>
      </p:sp>
      <p:sp>
        <p:nvSpPr>
          <p:cNvPr id="37" name="Text 35"/>
          <p:cNvSpPr/>
          <p:nvPr/>
        </p:nvSpPr>
        <p:spPr>
          <a:xfrm>
            <a:off x="8974607" y="2697480"/>
            <a:ext cx="1370800" cy="1417320"/>
          </a:xfrm>
          <a:prstGeom prst="rect">
            <a:avLst/>
          </a:prstGeom>
          <a:noFill/>
          <a:ln/>
        </p:spPr>
        <p:txBody>
          <a:bodyPr wrap="square" lIns="0" tIns="0" rIns="0" bIns="0" rtlCol="0" anchor="t"/>
          <a:lstStyle/>
          <a:p>
            <a:pPr algn="ctr" indent="0" marL="0">
              <a:lnSpc>
                <a:spcPct val="112000"/>
              </a:lnSpc>
              <a:buNone/>
            </a:pPr>
            <a:r>
              <a:rPr lang="en-US" sz="860" dirty="0">
                <a:solidFill>
                  <a:srgbClr val="4D4D4D"/>
                </a:solidFill>
                <a:latin typeface="Calibri" pitchFamily="34" charset="0"/>
                <a:ea typeface="Calibri" pitchFamily="34" charset="-122"/>
                <a:cs typeface="Calibri" pitchFamily="34" charset="-120"/>
              </a:rPr>
              <a:t>Transforms documents into searchable term-to-document structures.</a:t>
            </a:r>
            <a:endParaRPr lang="en-US" sz="860" dirty="0"/>
          </a:p>
        </p:txBody>
      </p:sp>
      <p:sp>
        <p:nvSpPr>
          <p:cNvPr id="38" name="Shape 36"/>
          <p:cNvSpPr/>
          <p:nvPr/>
        </p:nvSpPr>
        <p:spPr>
          <a:xfrm>
            <a:off x="11085671" y="2377440"/>
            <a:ext cx="0" cy="228600"/>
          </a:xfrm>
          <a:prstGeom prst="line">
            <a:avLst/>
          </a:prstGeom>
          <a:noFill/>
          <a:ln w="12700">
            <a:solidFill>
              <a:srgbClr val="C9C9C9"/>
            </a:solidFill>
            <a:prstDash val="solid"/>
          </a:ln>
        </p:spPr>
      </p:sp>
      <p:sp>
        <p:nvSpPr>
          <p:cNvPr id="39" name="Text 37"/>
          <p:cNvSpPr/>
          <p:nvPr/>
        </p:nvSpPr>
        <p:spPr>
          <a:xfrm>
            <a:off x="10400271" y="2697480"/>
            <a:ext cx="1370800" cy="1417320"/>
          </a:xfrm>
          <a:prstGeom prst="rect">
            <a:avLst/>
          </a:prstGeom>
          <a:noFill/>
          <a:ln/>
        </p:spPr>
        <p:txBody>
          <a:bodyPr wrap="square" lIns="0" tIns="0" rIns="0" bIns="0" rtlCol="0" anchor="t"/>
          <a:lstStyle/>
          <a:p>
            <a:pPr algn="ctr" indent="0" marL="0">
              <a:lnSpc>
                <a:spcPct val="112000"/>
              </a:lnSpc>
              <a:buNone/>
            </a:pPr>
            <a:r>
              <a:rPr lang="en-US" sz="860" dirty="0">
                <a:solidFill>
                  <a:srgbClr val="4D4D4D"/>
                </a:solidFill>
                <a:latin typeface="Calibri" pitchFamily="34" charset="0"/>
                <a:ea typeface="Calibri" pitchFamily="34" charset="-122"/>
                <a:cs typeface="Calibri" pitchFamily="34" charset="-120"/>
              </a:rPr>
              <a:t>Stores index data across distributed infrastructure.</a:t>
            </a:r>
            <a:endParaRPr lang="en-US" sz="860" dirty="0"/>
          </a:p>
        </p:txBody>
      </p:sp>
      <p:sp>
        <p:nvSpPr>
          <p:cNvPr id="40" name="Shape 38"/>
          <p:cNvSpPr/>
          <p:nvPr/>
        </p:nvSpPr>
        <p:spPr>
          <a:xfrm>
            <a:off x="457200" y="3977640"/>
            <a:ext cx="11274552" cy="1417320"/>
          </a:xfrm>
          <a:prstGeom prst="rect">
            <a:avLst>
              <a:gd name="adj" fmla="val 2581"/>
            </a:avLst>
          </a:prstGeom>
          <a:solidFill>
            <a:srgbClr val="F4F4F4"/>
          </a:solidFill>
          <a:ln w="12700">
            <a:solidFill>
              <a:srgbClr val="C9C9C9"/>
            </a:solidFill>
            <a:prstDash val="solid"/>
          </a:ln>
        </p:spPr>
      </p:sp>
      <p:sp>
        <p:nvSpPr>
          <p:cNvPr id="41" name="Text 39"/>
          <p:cNvSpPr/>
          <p:nvPr/>
        </p:nvSpPr>
        <p:spPr>
          <a:xfrm>
            <a:off x="685800" y="4087368"/>
            <a:ext cx="3657600" cy="274320"/>
          </a:xfrm>
          <a:prstGeom prst="rect">
            <a:avLst/>
          </a:prstGeom>
          <a:noFill/>
          <a:ln/>
        </p:spPr>
        <p:txBody>
          <a:bodyPr wrap="square" lIns="0" tIns="0" rIns="0" bIns="0" rtlCol="0" anchor="ctr"/>
          <a:lstStyle/>
          <a:p>
            <a:pPr indent="0" marL="0">
              <a:buNone/>
            </a:pPr>
            <a:r>
              <a:rPr lang="en-US" sz="1000" b="1" spc="150" kern="0" dirty="0">
                <a:solidFill>
                  <a:srgbClr val="7A7A7A"/>
                </a:solidFill>
                <a:latin typeface="Calibri" pitchFamily="34" charset="0"/>
                <a:ea typeface="Calibri" pitchFamily="34" charset="-122"/>
                <a:cs typeface="Calibri" pitchFamily="34" charset="-120"/>
              </a:rPr>
              <a:t>ENGINEERING DECISION</a:t>
            </a:r>
            <a:endParaRPr lang="en-US" sz="1000" dirty="0"/>
          </a:p>
        </p:txBody>
      </p:sp>
      <p:sp>
        <p:nvSpPr>
          <p:cNvPr id="42" name="Shape 40"/>
          <p:cNvSpPr/>
          <p:nvPr/>
        </p:nvSpPr>
        <p:spPr>
          <a:xfrm>
            <a:off x="685800" y="4434840"/>
            <a:ext cx="2834640" cy="566928"/>
          </a:xfrm>
          <a:prstGeom prst="rect">
            <a:avLst>
              <a:gd name="adj" fmla="val 6452"/>
            </a:avLst>
          </a:prstGeom>
          <a:solidFill>
            <a:srgbClr val="FFFFFF"/>
          </a:solidFill>
          <a:ln w="15875">
            <a:solidFill>
              <a:srgbClr val="1A1A1A"/>
            </a:solidFill>
            <a:prstDash val="solid"/>
          </a:ln>
        </p:spPr>
      </p:sp>
      <p:sp>
        <p:nvSpPr>
          <p:cNvPr id="43" name="Text 41"/>
          <p:cNvSpPr/>
          <p:nvPr/>
        </p:nvSpPr>
        <p:spPr>
          <a:xfrm>
            <a:off x="777240" y="4434840"/>
            <a:ext cx="2651760" cy="566928"/>
          </a:xfrm>
          <a:prstGeom prst="rect">
            <a:avLst/>
          </a:prstGeom>
          <a:noFill/>
          <a:ln/>
        </p:spPr>
        <p:txBody>
          <a:bodyPr wrap="square" lIns="0" tIns="0" rIns="0" bIns="0" rtlCol="0" anchor="ctr"/>
          <a:lstStyle/>
          <a:p>
            <a:pPr algn="ctr" indent="0" marL="0">
              <a:lnSpc>
                <a:spcPct val="105000"/>
              </a:lnSpc>
              <a:buNone/>
            </a:pPr>
            <a:r>
              <a:rPr lang="en-US" sz="1100" b="1" dirty="0">
                <a:solidFill>
                  <a:srgbClr val="1A1A1A"/>
                </a:solidFill>
                <a:latin typeface="Calibri" pitchFamily="34" charset="0"/>
                <a:ea typeface="Calibri" pitchFamily="34" charset="-122"/>
                <a:cs typeface="Calibri" pitchFamily="34" charset="-120"/>
              </a:rPr>
              <a:t>Continuous incremental indexing</a:t>
            </a:r>
            <a:endParaRPr lang="en-US" sz="1100" dirty="0"/>
          </a:p>
        </p:txBody>
      </p:sp>
      <p:sp>
        <p:nvSpPr>
          <p:cNvPr id="44" name="Text 42"/>
          <p:cNvSpPr/>
          <p:nvPr/>
        </p:nvSpPr>
        <p:spPr>
          <a:xfrm>
            <a:off x="3657600" y="4526280"/>
            <a:ext cx="914400" cy="365760"/>
          </a:xfrm>
          <a:prstGeom prst="rect">
            <a:avLst/>
          </a:prstGeom>
          <a:noFill/>
          <a:ln/>
        </p:spPr>
        <p:txBody>
          <a:bodyPr wrap="square" lIns="0" tIns="0" rIns="0" bIns="0" rtlCol="0" anchor="ctr"/>
          <a:lstStyle/>
          <a:p>
            <a:pPr algn="ctr" indent="0" marL="0">
              <a:buNone/>
            </a:pPr>
            <a:r>
              <a:rPr lang="en-US" sz="1000" i="1" dirty="0">
                <a:solidFill>
                  <a:srgbClr val="7A7A7A"/>
                </a:solidFill>
                <a:latin typeface="Calibri" pitchFamily="34" charset="0"/>
                <a:ea typeface="Calibri" pitchFamily="34" charset="-122"/>
                <a:cs typeface="Calibri" pitchFamily="34" charset="-120"/>
              </a:rPr>
              <a:t>instead of</a:t>
            </a:r>
            <a:endParaRPr lang="en-US" sz="1000" dirty="0"/>
          </a:p>
        </p:txBody>
      </p:sp>
      <p:sp>
        <p:nvSpPr>
          <p:cNvPr id="45" name="Shape 43"/>
          <p:cNvSpPr/>
          <p:nvPr/>
        </p:nvSpPr>
        <p:spPr>
          <a:xfrm>
            <a:off x="4709160" y="4434840"/>
            <a:ext cx="2834640" cy="566928"/>
          </a:xfrm>
          <a:prstGeom prst="rect">
            <a:avLst>
              <a:gd name="adj" fmla="val 6452"/>
            </a:avLst>
          </a:prstGeom>
          <a:solidFill>
            <a:srgbClr val="FFFFFF"/>
          </a:solidFill>
          <a:ln w="13970">
            <a:solidFill>
              <a:srgbClr val="ADADAD"/>
            </a:solidFill>
            <a:prstDash val="dash"/>
          </a:ln>
        </p:spPr>
      </p:sp>
      <p:sp>
        <p:nvSpPr>
          <p:cNvPr id="46" name="Text 44"/>
          <p:cNvSpPr/>
          <p:nvPr/>
        </p:nvSpPr>
        <p:spPr>
          <a:xfrm>
            <a:off x="4800600" y="4434840"/>
            <a:ext cx="2651760" cy="566928"/>
          </a:xfrm>
          <a:prstGeom prst="rect">
            <a:avLst/>
          </a:prstGeom>
          <a:noFill/>
          <a:ln/>
        </p:spPr>
        <p:txBody>
          <a:bodyPr wrap="square" lIns="0" tIns="0" rIns="0" bIns="0" rtlCol="0" anchor="ctr"/>
          <a:lstStyle/>
          <a:p>
            <a:pPr algn="ctr" indent="0" marL="0">
              <a:lnSpc>
                <a:spcPct val="105000"/>
              </a:lnSpc>
              <a:buNone/>
            </a:pPr>
            <a:r>
              <a:rPr lang="en-US" sz="1100" dirty="0">
                <a:solidFill>
                  <a:srgbClr val="7A7A7A"/>
                </a:solidFill>
                <a:latin typeface="Calibri" pitchFamily="34" charset="0"/>
                <a:ea typeface="Calibri" pitchFamily="34" charset="-122"/>
                <a:cs typeface="Calibri" pitchFamily="34" charset="-120"/>
              </a:rPr>
              <a:t>Periodic full index rebuilds</a:t>
            </a:r>
            <a:endParaRPr lang="en-US" sz="1100" dirty="0"/>
          </a:p>
        </p:txBody>
      </p:sp>
      <p:sp>
        <p:nvSpPr>
          <p:cNvPr id="47" name="Text 45"/>
          <p:cNvSpPr/>
          <p:nvPr/>
        </p:nvSpPr>
        <p:spPr>
          <a:xfrm>
            <a:off x="7818120" y="4361688"/>
            <a:ext cx="3703320" cy="713232"/>
          </a:xfrm>
          <a:prstGeom prst="rect">
            <a:avLst/>
          </a:prstGeom>
          <a:noFill/>
          <a:ln/>
        </p:spPr>
        <p:txBody>
          <a:bodyPr wrap="square" lIns="0" tIns="0" rIns="0" bIns="0" rtlCol="0" anchor="ctr"/>
          <a:lstStyle/>
          <a:p>
            <a:pPr indent="0" marL="0">
              <a:lnSpc>
                <a:spcPct val="115000"/>
              </a:lnSpc>
              <a:buNone/>
            </a:pPr>
            <a:r>
              <a:rPr lang="en-US" sz="1050" i="1" dirty="0">
                <a:solidFill>
                  <a:srgbClr val="4D4D4D"/>
                </a:solidFill>
                <a:latin typeface="Calibri" pitchFamily="34" charset="0"/>
                <a:ea typeface="Calibri" pitchFamily="34" charset="-122"/>
                <a:cs typeface="Calibri" pitchFamily="34" charset="-120"/>
              </a:rPr>
              <a:t>Incremental updates improve index freshness and avoid waiting for large batch rebuilds.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274320"/>
          </a:xfrm>
          <a:prstGeom prst="rect">
            <a:avLst/>
          </a:prstGeom>
          <a:noFill/>
          <a:ln/>
        </p:spPr>
        <p:txBody>
          <a:bodyPr wrap="square" lIns="0" tIns="0" rIns="0" bIns="0" rtlCol="0" anchor="ctr"/>
          <a:lstStyle/>
          <a:p>
            <a:pPr indent="0" marL="0">
              <a:buNone/>
            </a:pPr>
            <a:r>
              <a:rPr lang="en-US" sz="1100" b="1" spc="200" kern="0" dirty="0">
                <a:solidFill>
                  <a:srgbClr val="7A7A7A"/>
                </a:solidFill>
                <a:latin typeface="Calibri" pitchFamily="34" charset="0"/>
                <a:ea typeface="Calibri" pitchFamily="34" charset="-122"/>
                <a:cs typeface="Calibri" pitchFamily="34" charset="-120"/>
              </a:rPr>
              <a:t>AREA 2 + AREA 3</a:t>
            </a:r>
            <a:endParaRPr lang="en-US" sz="1100" dirty="0"/>
          </a:p>
        </p:txBody>
      </p:sp>
      <p:sp>
        <p:nvSpPr>
          <p:cNvPr id="3" name="Text 1"/>
          <p:cNvSpPr/>
          <p:nvPr/>
        </p:nvSpPr>
        <p:spPr>
          <a:xfrm>
            <a:off x="457200" y="502920"/>
            <a:ext cx="11247120" cy="64008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Query Processing, Retrieval &amp; Ranking</a:t>
            </a:r>
            <a:endParaRPr lang="en-US" sz="3000" dirty="0"/>
          </a:p>
        </p:txBody>
      </p:sp>
      <p:sp>
        <p:nvSpPr>
          <p:cNvPr id="4" name="Text 2"/>
          <p:cNvSpPr/>
          <p:nvPr/>
        </p:nvSpPr>
        <p:spPr>
          <a:xfrm>
            <a:off x="11612880" y="6510528"/>
            <a:ext cx="365760" cy="274320"/>
          </a:xfrm>
          <a:prstGeom prst="rect">
            <a:avLst/>
          </a:prstGeom>
          <a:noFill/>
          <a:ln/>
        </p:spPr>
        <p:txBody>
          <a:bodyPr wrap="square" lIns="0" tIns="0" rIns="0" bIns="0" rtlCol="0" anchor="ctr"/>
          <a:lstStyle/>
          <a:p>
            <a:pPr algn="r" indent="0" marL="0">
              <a:buNone/>
            </a:pPr>
            <a:r>
              <a:rPr lang="en-US" sz="1000" dirty="0">
                <a:solidFill>
                  <a:srgbClr val="ADADAD"/>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457200" y="1371600"/>
            <a:ext cx="5486400" cy="1920240"/>
          </a:xfrm>
          <a:prstGeom prst="rect">
            <a:avLst>
              <a:gd name="adj" fmla="val 1905"/>
            </a:avLst>
          </a:prstGeom>
          <a:solidFill>
            <a:srgbClr val="F4F4F4"/>
          </a:solidFill>
          <a:ln w="12700">
            <a:solidFill>
              <a:srgbClr val="C9C9C9"/>
            </a:solidFill>
            <a:prstDash val="solid"/>
          </a:ln>
        </p:spPr>
      </p:sp>
      <p:sp>
        <p:nvSpPr>
          <p:cNvPr id="6" name="Text 4"/>
          <p:cNvSpPr/>
          <p:nvPr/>
        </p:nvSpPr>
        <p:spPr>
          <a:xfrm>
            <a:off x="685800" y="1508760"/>
            <a:ext cx="5029200" cy="274320"/>
          </a:xfrm>
          <a:prstGeom prst="rect">
            <a:avLst/>
          </a:prstGeom>
          <a:noFill/>
          <a:ln/>
        </p:spPr>
        <p:txBody>
          <a:bodyPr wrap="square" lIns="0" tIns="0" rIns="0" bIns="0" rtlCol="0" anchor="ctr"/>
          <a:lstStyle/>
          <a:p>
            <a:pPr indent="0" marL="0">
              <a:buNone/>
            </a:pPr>
            <a:r>
              <a:rPr lang="en-US" sz="1150" b="1" spc="50" kern="0" dirty="0">
                <a:solidFill>
                  <a:srgbClr val="1A1A1A"/>
                </a:solidFill>
                <a:latin typeface="Calibri" pitchFamily="34" charset="0"/>
                <a:ea typeface="Calibri" pitchFamily="34" charset="-122"/>
                <a:cs typeface="Calibri" pitchFamily="34" charset="-120"/>
              </a:rPr>
              <a:t>AREA 2 — QUERY INTELLIGENCE</a:t>
            </a:r>
            <a:endParaRPr lang="en-US" sz="1150" dirty="0"/>
          </a:p>
        </p:txBody>
      </p:sp>
      <p:sp>
        <p:nvSpPr>
          <p:cNvPr id="7" name="Text 5"/>
          <p:cNvSpPr/>
          <p:nvPr/>
        </p:nvSpPr>
        <p:spPr>
          <a:xfrm>
            <a:off x="685800" y="1828800"/>
            <a:ext cx="5029200" cy="1371600"/>
          </a:xfrm>
          <a:prstGeom prst="rect">
            <a:avLst/>
          </a:prstGeom>
          <a:noFill/>
          <a:ln/>
        </p:spPr>
        <p:txBody>
          <a:bodyPr wrap="square" lIns="0" tIns="0" rIns="0" bIns="0" rtlCol="0" anchor="t"/>
          <a:lstStyle/>
          <a:p>
            <a:pPr marL="342900" indent="-342900">
              <a:lnSpc>
                <a:spcPct val="112000"/>
              </a:lnSpc>
              <a:buSzPct val="100000"/>
              <a:buChar char="▪"/>
            </a:pPr>
            <a:r>
              <a:rPr lang="en-US" sz="1050" dirty="0">
                <a:solidFill>
                  <a:srgbClr val="4D4D4D"/>
                </a:solidFill>
                <a:latin typeface="Calibri" pitchFamily="34" charset="0"/>
                <a:ea typeface="Calibri" pitchFamily="34" charset="-122"/>
                <a:cs typeface="Calibri" pitchFamily="34" charset="-120"/>
              </a:rPr>
              <a:t>Tokenization</a:t>
            </a:r>
            <a:endParaRPr lang="en-US" sz="1050" dirty="0"/>
          </a:p>
          <a:p>
            <a:pPr marL="342900" indent="-342900">
              <a:lnSpc>
                <a:spcPct val="112000"/>
              </a:lnSpc>
              <a:buSzPct val="100000"/>
              <a:buChar char="▪"/>
            </a:pPr>
            <a:r>
              <a:rPr lang="en-US" sz="1050" dirty="0">
                <a:solidFill>
                  <a:srgbClr val="4D4D4D"/>
                </a:solidFill>
                <a:latin typeface="Calibri" pitchFamily="34" charset="0"/>
                <a:ea typeface="Calibri" pitchFamily="34" charset="-122"/>
                <a:cs typeface="Calibri" pitchFamily="34" charset="-120"/>
              </a:rPr>
              <a:t>Normalization</a:t>
            </a:r>
            <a:endParaRPr lang="en-US" sz="1050" dirty="0"/>
          </a:p>
          <a:p>
            <a:pPr marL="342900" indent="-342900">
              <a:lnSpc>
                <a:spcPct val="112000"/>
              </a:lnSpc>
              <a:buSzPct val="100000"/>
              <a:buChar char="▪"/>
            </a:pPr>
            <a:r>
              <a:rPr lang="en-US" sz="1050" dirty="0">
                <a:solidFill>
                  <a:srgbClr val="4D4D4D"/>
                </a:solidFill>
                <a:latin typeface="Calibri" pitchFamily="34" charset="0"/>
                <a:ea typeface="Calibri" pitchFamily="34" charset="-122"/>
                <a:cs typeface="Calibri" pitchFamily="34" charset="-120"/>
              </a:rPr>
              <a:t>Spelling correction</a:t>
            </a:r>
            <a:endParaRPr lang="en-US" sz="1050" dirty="0"/>
          </a:p>
          <a:p>
            <a:pPr marL="342900" indent="-342900">
              <a:lnSpc>
                <a:spcPct val="112000"/>
              </a:lnSpc>
              <a:buSzPct val="100000"/>
              <a:buChar char="▪"/>
            </a:pPr>
            <a:r>
              <a:rPr lang="en-US" sz="1050" dirty="0">
                <a:solidFill>
                  <a:srgbClr val="4D4D4D"/>
                </a:solidFill>
                <a:latin typeface="Calibri" pitchFamily="34" charset="0"/>
                <a:ea typeface="Calibri" pitchFamily="34" charset="-122"/>
                <a:cs typeface="Calibri" pitchFamily="34" charset="-120"/>
              </a:rPr>
              <a:t>Stemming / lemmatization</a:t>
            </a:r>
            <a:endParaRPr lang="en-US" sz="1050" dirty="0"/>
          </a:p>
          <a:p>
            <a:pPr marL="342900" indent="-342900">
              <a:lnSpc>
                <a:spcPct val="112000"/>
              </a:lnSpc>
              <a:buSzPct val="100000"/>
              <a:buChar char="▪"/>
            </a:pPr>
            <a:r>
              <a:rPr lang="en-US" sz="1050" dirty="0">
                <a:solidFill>
                  <a:srgbClr val="4D4D4D"/>
                </a:solidFill>
                <a:latin typeface="Calibri" pitchFamily="34" charset="0"/>
                <a:ea typeface="Calibri" pitchFamily="34" charset="-122"/>
                <a:cs typeface="Calibri" pitchFamily="34" charset="-120"/>
              </a:rPr>
              <a:t>Synonym expansion</a:t>
            </a:r>
            <a:endParaRPr lang="en-US" sz="1050" dirty="0"/>
          </a:p>
          <a:p>
            <a:pPr marL="342900" indent="-342900">
              <a:lnSpc>
                <a:spcPct val="112000"/>
              </a:lnSpc>
              <a:buSzPct val="100000"/>
              <a:buChar char="▪"/>
            </a:pPr>
            <a:r>
              <a:rPr lang="en-US" sz="1050" dirty="0">
                <a:solidFill>
                  <a:srgbClr val="4D4D4D"/>
                </a:solidFill>
                <a:latin typeface="Calibri" pitchFamily="34" charset="0"/>
                <a:ea typeface="Calibri" pitchFamily="34" charset="-122"/>
                <a:cs typeface="Calibri" pitchFamily="34" charset="-120"/>
              </a:rPr>
              <a:t>Intent classification</a:t>
            </a:r>
            <a:endParaRPr lang="en-US" sz="1050" dirty="0"/>
          </a:p>
          <a:p>
            <a:pPr marL="342900" indent="-342900">
              <a:lnSpc>
                <a:spcPct val="112000"/>
              </a:lnSpc>
              <a:buSzPct val="100000"/>
              <a:buChar char="▪"/>
            </a:pPr>
            <a:r>
              <a:rPr lang="en-US" sz="1050" dirty="0">
                <a:solidFill>
                  <a:srgbClr val="4D4D4D"/>
                </a:solidFill>
                <a:latin typeface="Calibri" pitchFamily="34" charset="0"/>
                <a:ea typeface="Calibri" pitchFamily="34" charset="-122"/>
                <a:cs typeface="Calibri" pitchFamily="34" charset="-120"/>
              </a:rPr>
              <a:t>Query vectorization</a:t>
            </a:r>
            <a:endParaRPr lang="en-US" sz="1050" dirty="0"/>
          </a:p>
        </p:txBody>
      </p:sp>
      <p:sp>
        <p:nvSpPr>
          <p:cNvPr id="8" name="Shape 6"/>
          <p:cNvSpPr/>
          <p:nvPr/>
        </p:nvSpPr>
        <p:spPr>
          <a:xfrm>
            <a:off x="6263640" y="1371600"/>
            <a:ext cx="5486400" cy="1920240"/>
          </a:xfrm>
          <a:prstGeom prst="rect">
            <a:avLst>
              <a:gd name="adj" fmla="val 1905"/>
            </a:avLst>
          </a:prstGeom>
          <a:solidFill>
            <a:srgbClr val="F4F4F4"/>
          </a:solidFill>
          <a:ln w="12700">
            <a:solidFill>
              <a:srgbClr val="C9C9C9"/>
            </a:solidFill>
            <a:prstDash val="solid"/>
          </a:ln>
        </p:spPr>
      </p:sp>
      <p:sp>
        <p:nvSpPr>
          <p:cNvPr id="9" name="Text 7"/>
          <p:cNvSpPr/>
          <p:nvPr/>
        </p:nvSpPr>
        <p:spPr>
          <a:xfrm>
            <a:off x="6492240" y="1508760"/>
            <a:ext cx="5029200" cy="274320"/>
          </a:xfrm>
          <a:prstGeom prst="rect">
            <a:avLst/>
          </a:prstGeom>
          <a:noFill/>
          <a:ln/>
        </p:spPr>
        <p:txBody>
          <a:bodyPr wrap="square" lIns="0" tIns="0" rIns="0" bIns="0" rtlCol="0" anchor="ctr"/>
          <a:lstStyle/>
          <a:p>
            <a:pPr indent="0" marL="0">
              <a:buNone/>
            </a:pPr>
            <a:r>
              <a:rPr lang="en-US" sz="1150" b="1" spc="50" kern="0" dirty="0">
                <a:solidFill>
                  <a:srgbClr val="1A1A1A"/>
                </a:solidFill>
                <a:latin typeface="Calibri" pitchFamily="34" charset="0"/>
                <a:ea typeface="Calibri" pitchFamily="34" charset="-122"/>
                <a:cs typeface="Calibri" pitchFamily="34" charset="-120"/>
              </a:rPr>
              <a:t>AREA 3 — RETRIEVAL &amp; RANKING</a:t>
            </a:r>
            <a:endParaRPr lang="en-US" sz="1150" dirty="0"/>
          </a:p>
        </p:txBody>
      </p:sp>
      <p:sp>
        <p:nvSpPr>
          <p:cNvPr id="10" name="Text 8"/>
          <p:cNvSpPr/>
          <p:nvPr/>
        </p:nvSpPr>
        <p:spPr>
          <a:xfrm>
            <a:off x="6492240" y="1828800"/>
            <a:ext cx="5029200" cy="1371600"/>
          </a:xfrm>
          <a:prstGeom prst="rect">
            <a:avLst/>
          </a:prstGeom>
          <a:noFill/>
          <a:ln/>
        </p:spPr>
        <p:txBody>
          <a:bodyPr wrap="square" lIns="0" tIns="0" rIns="0" bIns="0" rtlCol="0" anchor="t"/>
          <a:lstStyle/>
          <a:p>
            <a:pPr marL="342900" indent="-342900">
              <a:lnSpc>
                <a:spcPct val="112000"/>
              </a:lnSpc>
              <a:buSzPct val="100000"/>
              <a:buChar char="▪"/>
            </a:pPr>
            <a:r>
              <a:rPr lang="en-US" sz="1050" dirty="0">
                <a:solidFill>
                  <a:srgbClr val="4D4D4D"/>
                </a:solidFill>
                <a:latin typeface="Calibri" pitchFamily="34" charset="0"/>
                <a:ea typeface="Calibri" pitchFamily="34" charset="-122"/>
                <a:cs typeface="Calibri" pitchFamily="34" charset="-120"/>
              </a:rPr>
              <a:t>Distributed index-shard retrieval</a:t>
            </a:r>
            <a:endParaRPr lang="en-US" sz="1050" dirty="0"/>
          </a:p>
          <a:p>
            <a:pPr marL="342900" indent="-342900">
              <a:lnSpc>
                <a:spcPct val="112000"/>
              </a:lnSpc>
              <a:buSzPct val="100000"/>
              <a:buChar char="▪"/>
            </a:pPr>
            <a:r>
              <a:rPr lang="en-US" sz="1050" dirty="0">
                <a:solidFill>
                  <a:srgbClr val="4D4D4D"/>
                </a:solidFill>
                <a:latin typeface="Calibri" pitchFamily="34" charset="0"/>
                <a:ea typeface="Calibri" pitchFamily="34" charset="-122"/>
                <a:cs typeface="Calibri" pitchFamily="34" charset="-120"/>
              </a:rPr>
              <a:t>Posting-list intersections</a:t>
            </a:r>
            <a:endParaRPr lang="en-US" sz="1050" dirty="0"/>
          </a:p>
          <a:p>
            <a:pPr marL="342900" indent="-342900">
              <a:lnSpc>
                <a:spcPct val="112000"/>
              </a:lnSpc>
              <a:buSzPct val="100000"/>
              <a:buChar char="▪"/>
            </a:pPr>
            <a:r>
              <a:rPr lang="en-US" sz="1050" dirty="0">
                <a:solidFill>
                  <a:srgbClr val="4D4D4D"/>
                </a:solidFill>
                <a:latin typeface="Calibri" pitchFamily="34" charset="0"/>
                <a:ea typeface="Calibri" pitchFamily="34" charset="-122"/>
                <a:cs typeface="Calibri" pitchFamily="34" charset="-120"/>
              </a:rPr>
              <a:t>Candidate generation</a:t>
            </a:r>
            <a:endParaRPr lang="en-US" sz="1050" dirty="0"/>
          </a:p>
          <a:p>
            <a:pPr marL="342900" indent="-342900">
              <a:lnSpc>
                <a:spcPct val="112000"/>
              </a:lnSpc>
              <a:buSzPct val="100000"/>
              <a:buChar char="▪"/>
            </a:pPr>
            <a:r>
              <a:rPr lang="en-US" sz="1050" dirty="0">
                <a:solidFill>
                  <a:srgbClr val="4D4D4D"/>
                </a:solidFill>
                <a:latin typeface="Calibri" pitchFamily="34" charset="0"/>
                <a:ea typeface="Calibri" pitchFamily="34" charset="-122"/>
                <a:cs typeface="Calibri" pitchFamily="34" charset="-120"/>
              </a:rPr>
              <a:t>TF-IDF / BM25-style relevance signals</a:t>
            </a:r>
            <a:endParaRPr lang="en-US" sz="1050" dirty="0"/>
          </a:p>
          <a:p>
            <a:pPr marL="342900" indent="-342900">
              <a:lnSpc>
                <a:spcPct val="112000"/>
              </a:lnSpc>
              <a:buSzPct val="100000"/>
              <a:buChar char="▪"/>
            </a:pPr>
            <a:r>
              <a:rPr lang="en-US" sz="1050" dirty="0">
                <a:solidFill>
                  <a:srgbClr val="4D4D4D"/>
                </a:solidFill>
                <a:latin typeface="Calibri" pitchFamily="34" charset="0"/>
                <a:ea typeface="Calibri" pitchFamily="34" charset="-122"/>
                <a:cs typeface="Calibri" pitchFamily="34" charset="-120"/>
              </a:rPr>
              <a:t>PageRank / link authority</a:t>
            </a:r>
            <a:endParaRPr lang="en-US" sz="1050" dirty="0"/>
          </a:p>
          <a:p>
            <a:pPr marL="342900" indent="-342900">
              <a:lnSpc>
                <a:spcPct val="112000"/>
              </a:lnSpc>
              <a:buSzPct val="100000"/>
              <a:buChar char="▪"/>
            </a:pPr>
            <a:r>
              <a:rPr lang="en-US" sz="1050" dirty="0">
                <a:solidFill>
                  <a:srgbClr val="4D4D4D"/>
                </a:solidFill>
                <a:latin typeface="Calibri" pitchFamily="34" charset="0"/>
                <a:ea typeface="Calibri" pitchFamily="34" charset="-122"/>
                <a:cs typeface="Calibri" pitchFamily="34" charset="-120"/>
              </a:rPr>
              <a:t>Learning-to-Rank / neural relevance models</a:t>
            </a:r>
            <a:endParaRPr lang="en-US" sz="1050" dirty="0"/>
          </a:p>
          <a:p>
            <a:pPr marL="342900" indent="-342900">
              <a:lnSpc>
                <a:spcPct val="112000"/>
              </a:lnSpc>
              <a:buSzPct val="100000"/>
              <a:buChar char="▪"/>
            </a:pPr>
            <a:r>
              <a:rPr lang="en-US" sz="1050" dirty="0">
                <a:solidFill>
                  <a:srgbClr val="4D4D4D"/>
                </a:solidFill>
                <a:latin typeface="Calibri" pitchFamily="34" charset="0"/>
                <a:ea typeface="Calibri" pitchFamily="34" charset="-122"/>
                <a:cs typeface="Calibri" pitchFamily="34" charset="-120"/>
              </a:rPr>
              <a:t>SERP assembly</a:t>
            </a:r>
            <a:endParaRPr lang="en-US" sz="1050" dirty="0"/>
          </a:p>
        </p:txBody>
      </p:sp>
      <p:sp>
        <p:nvSpPr>
          <p:cNvPr id="11" name="Shape 9"/>
          <p:cNvSpPr/>
          <p:nvPr/>
        </p:nvSpPr>
        <p:spPr>
          <a:xfrm>
            <a:off x="5998464" y="2331720"/>
            <a:ext cx="210312" cy="0"/>
          </a:xfrm>
          <a:prstGeom prst="line">
            <a:avLst/>
          </a:prstGeom>
          <a:noFill/>
          <a:ln w="19050">
            <a:solidFill>
              <a:srgbClr val="4D4D4D"/>
            </a:solidFill>
            <a:prstDash val="solid"/>
            <a:tailEnd type="triangle"/>
          </a:ln>
        </p:spPr>
      </p:sp>
      <p:sp>
        <p:nvSpPr>
          <p:cNvPr id="12" name="Shape 10"/>
          <p:cNvSpPr/>
          <p:nvPr/>
        </p:nvSpPr>
        <p:spPr>
          <a:xfrm>
            <a:off x="929488" y="3566160"/>
            <a:ext cx="10332720" cy="310896"/>
          </a:xfrm>
          <a:prstGeom prst="rect">
            <a:avLst>
              <a:gd name="adj" fmla="val 11765"/>
            </a:avLst>
          </a:prstGeom>
          <a:solidFill>
            <a:srgbClr val="FFFFFF"/>
          </a:solidFill>
          <a:ln w="12700">
            <a:solidFill>
              <a:srgbClr val="1A1A1A"/>
            </a:solidFill>
            <a:prstDash val="solid"/>
          </a:ln>
        </p:spPr>
      </p:sp>
      <p:sp>
        <p:nvSpPr>
          <p:cNvPr id="13" name="Text 11"/>
          <p:cNvSpPr/>
          <p:nvPr/>
        </p:nvSpPr>
        <p:spPr>
          <a:xfrm>
            <a:off x="975208" y="3566160"/>
            <a:ext cx="10241280" cy="310896"/>
          </a:xfrm>
          <a:prstGeom prst="rect">
            <a:avLst/>
          </a:prstGeom>
          <a:noFill/>
          <a:ln/>
        </p:spPr>
        <p:txBody>
          <a:bodyPr wrap="square" lIns="0" tIns="0" rIns="0" bIns="0" rtlCol="0" anchor="ctr"/>
          <a:lstStyle/>
          <a:p>
            <a:pPr algn="ctr" indent="0" marL="0">
              <a:lnSpc>
                <a:spcPct val="105000"/>
              </a:lnSpc>
              <a:buNone/>
            </a:pPr>
            <a:r>
              <a:rPr lang="en-US" sz="1000" b="1" dirty="0">
                <a:solidFill>
                  <a:srgbClr val="1A1A1A"/>
                </a:solidFill>
                <a:latin typeface="Calibri" pitchFamily="34" charset="0"/>
                <a:ea typeface="Calibri" pitchFamily="34" charset="-122"/>
                <a:cs typeface="Calibri" pitchFamily="34" charset="-120"/>
              </a:rPr>
              <a:t>BILLIONS OF POSSIBLE DOCUMENTS</a:t>
            </a:r>
            <a:endParaRPr lang="en-US" sz="1000" dirty="0"/>
          </a:p>
        </p:txBody>
      </p:sp>
      <p:sp>
        <p:nvSpPr>
          <p:cNvPr id="14" name="Shape 12"/>
          <p:cNvSpPr/>
          <p:nvPr/>
        </p:nvSpPr>
        <p:spPr>
          <a:xfrm>
            <a:off x="6095848" y="3877056"/>
            <a:ext cx="0" cy="50292"/>
          </a:xfrm>
          <a:prstGeom prst="line">
            <a:avLst/>
          </a:prstGeom>
          <a:noFill/>
          <a:ln w="19050">
            <a:solidFill>
              <a:srgbClr val="4D4D4D"/>
            </a:solidFill>
            <a:prstDash val="solid"/>
            <a:tailEnd type="triangle"/>
          </a:ln>
        </p:spPr>
      </p:sp>
      <p:sp>
        <p:nvSpPr>
          <p:cNvPr id="15" name="Shape 13"/>
          <p:cNvSpPr/>
          <p:nvPr/>
        </p:nvSpPr>
        <p:spPr>
          <a:xfrm>
            <a:off x="1706728" y="3927348"/>
            <a:ext cx="8778240" cy="310896"/>
          </a:xfrm>
          <a:prstGeom prst="rect">
            <a:avLst>
              <a:gd name="adj" fmla="val 11765"/>
            </a:avLst>
          </a:prstGeom>
          <a:solidFill>
            <a:srgbClr val="FFFFFF"/>
          </a:solidFill>
          <a:ln w="12700">
            <a:solidFill>
              <a:srgbClr val="1A1A1A"/>
            </a:solidFill>
            <a:prstDash val="solid"/>
          </a:ln>
        </p:spPr>
      </p:sp>
      <p:sp>
        <p:nvSpPr>
          <p:cNvPr id="16" name="Text 14"/>
          <p:cNvSpPr/>
          <p:nvPr/>
        </p:nvSpPr>
        <p:spPr>
          <a:xfrm>
            <a:off x="1752448" y="3927348"/>
            <a:ext cx="8686800" cy="310896"/>
          </a:xfrm>
          <a:prstGeom prst="rect">
            <a:avLst/>
          </a:prstGeom>
          <a:noFill/>
          <a:ln/>
        </p:spPr>
        <p:txBody>
          <a:bodyPr wrap="square" lIns="0" tIns="0" rIns="0" bIns="0" rtlCol="0" anchor="ctr"/>
          <a:lstStyle/>
          <a:p>
            <a:pPr algn="ctr" indent="0" marL="0">
              <a:lnSpc>
                <a:spcPct val="105000"/>
              </a:lnSpc>
              <a:buNone/>
            </a:pPr>
            <a:r>
              <a:rPr lang="en-US" sz="1000" b="1" dirty="0">
                <a:solidFill>
                  <a:srgbClr val="1A1A1A"/>
                </a:solidFill>
                <a:latin typeface="Calibri" pitchFamily="34" charset="0"/>
                <a:ea typeface="Calibri" pitchFamily="34" charset="-122"/>
                <a:cs typeface="Calibri" pitchFamily="34" charset="-120"/>
              </a:rPr>
              <a:t>DISTRIBUTED CANDIDATE RETRIEVAL</a:t>
            </a:r>
            <a:endParaRPr lang="en-US" sz="1000" dirty="0"/>
          </a:p>
        </p:txBody>
      </p:sp>
      <p:sp>
        <p:nvSpPr>
          <p:cNvPr id="17" name="Shape 15"/>
          <p:cNvSpPr/>
          <p:nvPr/>
        </p:nvSpPr>
        <p:spPr>
          <a:xfrm>
            <a:off x="6095848" y="4238244"/>
            <a:ext cx="0" cy="50292"/>
          </a:xfrm>
          <a:prstGeom prst="line">
            <a:avLst/>
          </a:prstGeom>
          <a:noFill/>
          <a:ln w="19050">
            <a:solidFill>
              <a:srgbClr val="4D4D4D"/>
            </a:solidFill>
            <a:prstDash val="solid"/>
            <a:tailEnd type="triangle"/>
          </a:ln>
        </p:spPr>
      </p:sp>
      <p:sp>
        <p:nvSpPr>
          <p:cNvPr id="18" name="Shape 16"/>
          <p:cNvSpPr/>
          <p:nvPr/>
        </p:nvSpPr>
        <p:spPr>
          <a:xfrm>
            <a:off x="2483968" y="4288536"/>
            <a:ext cx="7223760" cy="310896"/>
          </a:xfrm>
          <a:prstGeom prst="rect">
            <a:avLst>
              <a:gd name="adj" fmla="val 11765"/>
            </a:avLst>
          </a:prstGeom>
          <a:solidFill>
            <a:srgbClr val="FFFFFF"/>
          </a:solidFill>
          <a:ln w="12700">
            <a:solidFill>
              <a:srgbClr val="1A1A1A"/>
            </a:solidFill>
            <a:prstDash val="solid"/>
          </a:ln>
        </p:spPr>
      </p:sp>
      <p:sp>
        <p:nvSpPr>
          <p:cNvPr id="19" name="Text 17"/>
          <p:cNvSpPr/>
          <p:nvPr/>
        </p:nvSpPr>
        <p:spPr>
          <a:xfrm>
            <a:off x="2529688" y="4288536"/>
            <a:ext cx="7132320" cy="310896"/>
          </a:xfrm>
          <a:prstGeom prst="rect">
            <a:avLst/>
          </a:prstGeom>
          <a:noFill/>
          <a:ln/>
        </p:spPr>
        <p:txBody>
          <a:bodyPr wrap="square" lIns="0" tIns="0" rIns="0" bIns="0" rtlCol="0" anchor="ctr"/>
          <a:lstStyle/>
          <a:p>
            <a:pPr algn="ctr" indent="0" marL="0">
              <a:lnSpc>
                <a:spcPct val="105000"/>
              </a:lnSpc>
              <a:buNone/>
            </a:pPr>
            <a:r>
              <a:rPr lang="en-US" sz="1000" b="1" dirty="0">
                <a:solidFill>
                  <a:srgbClr val="1A1A1A"/>
                </a:solidFill>
                <a:latin typeface="Calibri" pitchFamily="34" charset="0"/>
                <a:ea typeface="Calibri" pitchFamily="34" charset="-122"/>
                <a:cs typeface="Calibri" pitchFamily="34" charset="-120"/>
              </a:rPr>
              <a:t>~1,000 CANDIDATES</a:t>
            </a:r>
            <a:endParaRPr lang="en-US" sz="1000" dirty="0"/>
          </a:p>
        </p:txBody>
      </p:sp>
      <p:sp>
        <p:nvSpPr>
          <p:cNvPr id="20" name="Shape 18"/>
          <p:cNvSpPr/>
          <p:nvPr/>
        </p:nvSpPr>
        <p:spPr>
          <a:xfrm>
            <a:off x="6095848" y="4599432"/>
            <a:ext cx="0" cy="50292"/>
          </a:xfrm>
          <a:prstGeom prst="line">
            <a:avLst/>
          </a:prstGeom>
          <a:noFill/>
          <a:ln w="19050">
            <a:solidFill>
              <a:srgbClr val="4D4D4D"/>
            </a:solidFill>
            <a:prstDash val="solid"/>
            <a:tailEnd type="triangle"/>
          </a:ln>
        </p:spPr>
      </p:sp>
      <p:sp>
        <p:nvSpPr>
          <p:cNvPr id="21" name="Shape 19"/>
          <p:cNvSpPr/>
          <p:nvPr/>
        </p:nvSpPr>
        <p:spPr>
          <a:xfrm>
            <a:off x="3261208" y="4649724"/>
            <a:ext cx="5669280" cy="310896"/>
          </a:xfrm>
          <a:prstGeom prst="rect">
            <a:avLst>
              <a:gd name="adj" fmla="val 11765"/>
            </a:avLst>
          </a:prstGeom>
          <a:solidFill>
            <a:srgbClr val="FFFFFF"/>
          </a:solidFill>
          <a:ln w="12700">
            <a:solidFill>
              <a:srgbClr val="1A1A1A"/>
            </a:solidFill>
            <a:prstDash val="solid"/>
          </a:ln>
        </p:spPr>
      </p:sp>
      <p:sp>
        <p:nvSpPr>
          <p:cNvPr id="22" name="Text 20"/>
          <p:cNvSpPr/>
          <p:nvPr/>
        </p:nvSpPr>
        <p:spPr>
          <a:xfrm>
            <a:off x="3306928" y="4649724"/>
            <a:ext cx="5577840" cy="310896"/>
          </a:xfrm>
          <a:prstGeom prst="rect">
            <a:avLst/>
          </a:prstGeom>
          <a:noFill/>
          <a:ln/>
        </p:spPr>
        <p:txBody>
          <a:bodyPr wrap="square" lIns="0" tIns="0" rIns="0" bIns="0" rtlCol="0" anchor="ctr"/>
          <a:lstStyle/>
          <a:p>
            <a:pPr algn="ctr" indent="0" marL="0">
              <a:lnSpc>
                <a:spcPct val="105000"/>
              </a:lnSpc>
              <a:buNone/>
            </a:pPr>
            <a:r>
              <a:rPr lang="en-US" sz="1000" b="1" dirty="0">
                <a:solidFill>
                  <a:srgbClr val="1A1A1A"/>
                </a:solidFill>
                <a:latin typeface="Calibri" pitchFamily="34" charset="0"/>
                <a:ea typeface="Calibri" pitchFamily="34" charset="-122"/>
                <a:cs typeface="Calibri" pitchFamily="34" charset="-120"/>
              </a:rPr>
              <a:t>LIGHTWEIGHT SCORING</a:t>
            </a:r>
            <a:endParaRPr lang="en-US" sz="1000" dirty="0"/>
          </a:p>
        </p:txBody>
      </p:sp>
      <p:sp>
        <p:nvSpPr>
          <p:cNvPr id="23" name="Shape 21"/>
          <p:cNvSpPr/>
          <p:nvPr/>
        </p:nvSpPr>
        <p:spPr>
          <a:xfrm>
            <a:off x="6095848" y="4960620"/>
            <a:ext cx="0" cy="50292"/>
          </a:xfrm>
          <a:prstGeom prst="line">
            <a:avLst/>
          </a:prstGeom>
          <a:noFill/>
          <a:ln w="19050">
            <a:solidFill>
              <a:srgbClr val="4D4D4D"/>
            </a:solidFill>
            <a:prstDash val="solid"/>
            <a:tailEnd type="triangle"/>
          </a:ln>
        </p:spPr>
      </p:sp>
      <p:sp>
        <p:nvSpPr>
          <p:cNvPr id="24" name="Shape 22"/>
          <p:cNvSpPr/>
          <p:nvPr/>
        </p:nvSpPr>
        <p:spPr>
          <a:xfrm>
            <a:off x="4038448" y="5010912"/>
            <a:ext cx="4114800" cy="310896"/>
          </a:xfrm>
          <a:prstGeom prst="rect">
            <a:avLst>
              <a:gd name="adj" fmla="val 11765"/>
            </a:avLst>
          </a:prstGeom>
          <a:solidFill>
            <a:srgbClr val="FFFFFF"/>
          </a:solidFill>
          <a:ln w="12700">
            <a:solidFill>
              <a:srgbClr val="1A1A1A"/>
            </a:solidFill>
            <a:prstDash val="solid"/>
          </a:ln>
        </p:spPr>
      </p:sp>
      <p:sp>
        <p:nvSpPr>
          <p:cNvPr id="25" name="Text 23"/>
          <p:cNvSpPr/>
          <p:nvPr/>
        </p:nvSpPr>
        <p:spPr>
          <a:xfrm>
            <a:off x="4084168" y="5010912"/>
            <a:ext cx="4023360" cy="310896"/>
          </a:xfrm>
          <a:prstGeom prst="rect">
            <a:avLst/>
          </a:prstGeom>
          <a:noFill/>
          <a:ln/>
        </p:spPr>
        <p:txBody>
          <a:bodyPr wrap="square" lIns="0" tIns="0" rIns="0" bIns="0" rtlCol="0" anchor="ctr"/>
          <a:lstStyle/>
          <a:p>
            <a:pPr algn="ctr" indent="0" marL="0">
              <a:lnSpc>
                <a:spcPct val="105000"/>
              </a:lnSpc>
              <a:buNone/>
            </a:pPr>
            <a:r>
              <a:rPr lang="en-US" sz="1000" b="1" dirty="0">
                <a:solidFill>
                  <a:srgbClr val="1A1A1A"/>
                </a:solidFill>
                <a:latin typeface="Calibri" pitchFamily="34" charset="0"/>
                <a:ea typeface="Calibri" pitchFamily="34" charset="-122"/>
                <a:cs typeface="Calibri" pitchFamily="34" charset="-120"/>
              </a:rPr>
              <a:t>ML RE-RANKING</a:t>
            </a:r>
            <a:endParaRPr lang="en-US" sz="1000" dirty="0"/>
          </a:p>
        </p:txBody>
      </p:sp>
      <p:sp>
        <p:nvSpPr>
          <p:cNvPr id="26" name="Shape 24"/>
          <p:cNvSpPr/>
          <p:nvPr/>
        </p:nvSpPr>
        <p:spPr>
          <a:xfrm>
            <a:off x="6095848" y="5321808"/>
            <a:ext cx="0" cy="50292"/>
          </a:xfrm>
          <a:prstGeom prst="line">
            <a:avLst/>
          </a:prstGeom>
          <a:noFill/>
          <a:ln w="19050">
            <a:solidFill>
              <a:srgbClr val="4D4D4D"/>
            </a:solidFill>
            <a:prstDash val="solid"/>
            <a:tailEnd type="triangle"/>
          </a:ln>
        </p:spPr>
      </p:sp>
      <p:sp>
        <p:nvSpPr>
          <p:cNvPr id="27" name="Shape 25"/>
          <p:cNvSpPr/>
          <p:nvPr/>
        </p:nvSpPr>
        <p:spPr>
          <a:xfrm>
            <a:off x="4815688" y="5372100"/>
            <a:ext cx="2560320" cy="310896"/>
          </a:xfrm>
          <a:prstGeom prst="rect">
            <a:avLst>
              <a:gd name="adj" fmla="val 11765"/>
            </a:avLst>
          </a:prstGeom>
          <a:solidFill>
            <a:srgbClr val="1A1A1A"/>
          </a:solidFill>
          <a:ln w="12700">
            <a:solidFill>
              <a:srgbClr val="1A1A1A"/>
            </a:solidFill>
            <a:prstDash val="solid"/>
          </a:ln>
        </p:spPr>
      </p:sp>
      <p:sp>
        <p:nvSpPr>
          <p:cNvPr id="28" name="Text 26"/>
          <p:cNvSpPr/>
          <p:nvPr/>
        </p:nvSpPr>
        <p:spPr>
          <a:xfrm>
            <a:off x="4861408" y="5372100"/>
            <a:ext cx="2468880" cy="310896"/>
          </a:xfrm>
          <a:prstGeom prst="rect">
            <a:avLst/>
          </a:prstGeom>
          <a:noFill/>
          <a:ln/>
        </p:spPr>
        <p:txBody>
          <a:bodyPr wrap="square" lIns="0" tIns="0" rIns="0" bIns="0" rtlCol="0" anchor="ctr"/>
          <a:lstStyle/>
          <a:p>
            <a:pPr algn="ctr" indent="0" marL="0">
              <a:lnSpc>
                <a:spcPct val="105000"/>
              </a:lnSpc>
              <a:buNone/>
            </a:pPr>
            <a:r>
              <a:rPr lang="en-US" sz="1000" b="1" dirty="0">
                <a:solidFill>
                  <a:srgbClr val="FFFFFF"/>
                </a:solidFill>
                <a:latin typeface="Calibri" pitchFamily="34" charset="0"/>
                <a:ea typeface="Calibri" pitchFamily="34" charset="-122"/>
                <a:cs typeface="Calibri" pitchFamily="34" charset="-120"/>
              </a:rPr>
              <a:t>TOP RESULTS</a:t>
            </a:r>
            <a:endParaRPr lang="en-US" sz="1000" dirty="0"/>
          </a:p>
        </p:txBody>
      </p:sp>
      <p:sp>
        <p:nvSpPr>
          <p:cNvPr id="29" name="Shape 27"/>
          <p:cNvSpPr/>
          <p:nvPr/>
        </p:nvSpPr>
        <p:spPr>
          <a:xfrm>
            <a:off x="457200" y="5897880"/>
            <a:ext cx="11274552" cy="457200"/>
          </a:xfrm>
          <a:prstGeom prst="rect">
            <a:avLst>
              <a:gd name="adj" fmla="val 8000"/>
            </a:avLst>
          </a:prstGeom>
          <a:solidFill>
            <a:srgbClr val="1A1A1A"/>
          </a:solidFill>
          <a:ln/>
        </p:spPr>
      </p:sp>
      <p:sp>
        <p:nvSpPr>
          <p:cNvPr id="30" name="Text 28"/>
          <p:cNvSpPr/>
          <p:nvPr/>
        </p:nvSpPr>
        <p:spPr>
          <a:xfrm>
            <a:off x="685800" y="5897880"/>
            <a:ext cx="10817352" cy="457200"/>
          </a:xfrm>
          <a:prstGeom prst="rect">
            <a:avLst/>
          </a:prstGeom>
          <a:noFill/>
          <a:ln/>
        </p:spPr>
        <p:txBody>
          <a:bodyPr wrap="square" lIns="0" tIns="0" rIns="0" bIns="0" rtlCol="0" anchor="ctr"/>
          <a:lstStyle/>
          <a:p>
            <a:pPr algn="ctr" indent="0" marL="0">
              <a:buNone/>
            </a:pPr>
            <a:r>
              <a:rPr lang="en-US" sz="1200" b="1" i="1" dirty="0">
                <a:solidFill>
                  <a:srgbClr val="FFFFFF"/>
                </a:solidFill>
                <a:latin typeface="Calibri" pitchFamily="34" charset="0"/>
                <a:ea typeface="Calibri" pitchFamily="34" charset="-122"/>
                <a:cs typeface="Calibri" pitchFamily="34" charset="-120"/>
              </a:rPr>
              <a:t>Reduce the candidate set before applying expensive ranking models.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274320"/>
          </a:xfrm>
          <a:prstGeom prst="rect">
            <a:avLst/>
          </a:prstGeom>
          <a:noFill/>
          <a:ln/>
        </p:spPr>
        <p:txBody>
          <a:bodyPr wrap="square" lIns="0" tIns="0" rIns="0" bIns="0" rtlCol="0" anchor="ctr"/>
          <a:lstStyle/>
          <a:p>
            <a:pPr indent="0" marL="0">
              <a:buNone/>
            </a:pPr>
            <a:r>
              <a:rPr lang="en-US" sz="1100" b="1" spc="200" kern="0" dirty="0">
                <a:solidFill>
                  <a:srgbClr val="7A7A7A"/>
                </a:solidFill>
                <a:latin typeface="Calibri" pitchFamily="34" charset="0"/>
                <a:ea typeface="Calibri" pitchFamily="34" charset="-122"/>
                <a:cs typeface="Calibri" pitchFamily="34" charset="-120"/>
              </a:rPr>
              <a:t>SYNTHESIS</a:t>
            </a:r>
            <a:endParaRPr lang="en-US" sz="1100" dirty="0"/>
          </a:p>
        </p:txBody>
      </p:sp>
      <p:sp>
        <p:nvSpPr>
          <p:cNvPr id="3" name="Text 1"/>
          <p:cNvSpPr/>
          <p:nvPr/>
        </p:nvSpPr>
        <p:spPr>
          <a:xfrm>
            <a:off x="457200" y="502920"/>
            <a:ext cx="11247120" cy="640080"/>
          </a:xfrm>
          <a:prstGeom prst="rect">
            <a:avLst/>
          </a:prstGeom>
          <a:noFill/>
          <a:ln/>
        </p:spPr>
        <p:txBody>
          <a:bodyPr wrap="square" lIns="0" tIns="0" rIns="0" bIns="0"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End-to-End Search Pipeline</a:t>
            </a:r>
            <a:endParaRPr lang="en-US" sz="3000" dirty="0"/>
          </a:p>
        </p:txBody>
      </p:sp>
      <p:sp>
        <p:nvSpPr>
          <p:cNvPr id="4" name="Text 2"/>
          <p:cNvSpPr/>
          <p:nvPr/>
        </p:nvSpPr>
        <p:spPr>
          <a:xfrm>
            <a:off x="11612880" y="6510528"/>
            <a:ext cx="365760" cy="274320"/>
          </a:xfrm>
          <a:prstGeom prst="rect">
            <a:avLst/>
          </a:prstGeom>
          <a:noFill/>
          <a:ln/>
        </p:spPr>
        <p:txBody>
          <a:bodyPr wrap="square" lIns="0" tIns="0" rIns="0" bIns="0" rtlCol="0" anchor="ctr"/>
          <a:lstStyle/>
          <a:p>
            <a:pPr algn="r" indent="0" marL="0">
              <a:buNone/>
            </a:pPr>
            <a:r>
              <a:rPr lang="en-US" sz="1000" dirty="0">
                <a:solidFill>
                  <a:srgbClr val="ADADAD"/>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457200" y="1417320"/>
            <a:ext cx="950394" cy="777240"/>
          </a:xfrm>
          <a:prstGeom prst="rect">
            <a:avLst>
              <a:gd name="adj" fmla="val 4706"/>
            </a:avLst>
          </a:prstGeom>
          <a:solidFill>
            <a:srgbClr val="FFFFFF"/>
          </a:solidFill>
          <a:ln w="12700">
            <a:solidFill>
              <a:srgbClr val="1A1A1A"/>
            </a:solidFill>
            <a:prstDash val="solid"/>
          </a:ln>
        </p:spPr>
      </p:sp>
      <p:sp>
        <p:nvSpPr>
          <p:cNvPr id="6" name="Text 4"/>
          <p:cNvSpPr/>
          <p:nvPr/>
        </p:nvSpPr>
        <p:spPr>
          <a:xfrm>
            <a:off x="502920" y="1417320"/>
            <a:ext cx="858954" cy="777240"/>
          </a:xfrm>
          <a:prstGeom prst="rect">
            <a:avLst/>
          </a:prstGeom>
          <a:noFill/>
          <a:ln/>
        </p:spPr>
        <p:txBody>
          <a:bodyPr wrap="square" lIns="0" tIns="0" rIns="0" bIns="0" rtlCol="0" anchor="ctr"/>
          <a:lstStyle/>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WEB</a:t>
            </a:r>
            <a:endParaRPr lang="en-US" sz="830" dirty="0"/>
          </a:p>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CONTENT</a:t>
            </a:r>
            <a:endParaRPr lang="en-US" sz="830" dirty="0"/>
          </a:p>
        </p:txBody>
      </p:sp>
      <p:sp>
        <p:nvSpPr>
          <p:cNvPr id="7" name="Shape 5"/>
          <p:cNvSpPr/>
          <p:nvPr/>
        </p:nvSpPr>
        <p:spPr>
          <a:xfrm>
            <a:off x="1407594" y="1805940"/>
            <a:ext cx="82296" cy="0"/>
          </a:xfrm>
          <a:prstGeom prst="line">
            <a:avLst/>
          </a:prstGeom>
          <a:noFill/>
          <a:ln w="19050">
            <a:solidFill>
              <a:srgbClr val="4D4D4D"/>
            </a:solidFill>
            <a:prstDash val="solid"/>
            <a:tailEnd type="triangle"/>
          </a:ln>
        </p:spPr>
      </p:sp>
      <p:sp>
        <p:nvSpPr>
          <p:cNvPr id="8" name="Shape 6"/>
          <p:cNvSpPr/>
          <p:nvPr/>
        </p:nvSpPr>
        <p:spPr>
          <a:xfrm>
            <a:off x="1489890" y="1417320"/>
            <a:ext cx="950394" cy="777240"/>
          </a:xfrm>
          <a:prstGeom prst="rect">
            <a:avLst>
              <a:gd name="adj" fmla="val 4706"/>
            </a:avLst>
          </a:prstGeom>
          <a:solidFill>
            <a:srgbClr val="FFFFFF"/>
          </a:solidFill>
          <a:ln w="12700">
            <a:solidFill>
              <a:srgbClr val="1A1A1A"/>
            </a:solidFill>
            <a:prstDash val="solid"/>
          </a:ln>
        </p:spPr>
      </p:sp>
      <p:sp>
        <p:nvSpPr>
          <p:cNvPr id="9" name="Text 7"/>
          <p:cNvSpPr/>
          <p:nvPr/>
        </p:nvSpPr>
        <p:spPr>
          <a:xfrm>
            <a:off x="1535610" y="1417320"/>
            <a:ext cx="858954" cy="777240"/>
          </a:xfrm>
          <a:prstGeom prst="rect">
            <a:avLst/>
          </a:prstGeom>
          <a:noFill/>
          <a:ln/>
        </p:spPr>
        <p:txBody>
          <a:bodyPr wrap="square" lIns="0" tIns="0" rIns="0" bIns="0" rtlCol="0" anchor="ctr"/>
          <a:lstStyle/>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URL FRONTIER</a:t>
            </a:r>
            <a:endParaRPr lang="en-US" sz="830" dirty="0"/>
          </a:p>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QUEUE</a:t>
            </a:r>
            <a:endParaRPr lang="en-US" sz="830" dirty="0"/>
          </a:p>
        </p:txBody>
      </p:sp>
      <p:sp>
        <p:nvSpPr>
          <p:cNvPr id="10" name="Shape 8"/>
          <p:cNvSpPr/>
          <p:nvPr/>
        </p:nvSpPr>
        <p:spPr>
          <a:xfrm>
            <a:off x="2440284" y="1805940"/>
            <a:ext cx="82296" cy="0"/>
          </a:xfrm>
          <a:prstGeom prst="line">
            <a:avLst/>
          </a:prstGeom>
          <a:noFill/>
          <a:ln w="19050">
            <a:solidFill>
              <a:srgbClr val="4D4D4D"/>
            </a:solidFill>
            <a:prstDash val="solid"/>
            <a:tailEnd type="triangle"/>
          </a:ln>
        </p:spPr>
      </p:sp>
      <p:sp>
        <p:nvSpPr>
          <p:cNvPr id="11" name="Shape 9"/>
          <p:cNvSpPr/>
          <p:nvPr/>
        </p:nvSpPr>
        <p:spPr>
          <a:xfrm>
            <a:off x="2522580" y="1417320"/>
            <a:ext cx="950394" cy="777240"/>
          </a:xfrm>
          <a:prstGeom prst="rect">
            <a:avLst>
              <a:gd name="adj" fmla="val 4706"/>
            </a:avLst>
          </a:prstGeom>
          <a:solidFill>
            <a:srgbClr val="FFFFFF"/>
          </a:solidFill>
          <a:ln w="12700">
            <a:solidFill>
              <a:srgbClr val="1A1A1A"/>
            </a:solidFill>
            <a:prstDash val="solid"/>
          </a:ln>
        </p:spPr>
      </p:sp>
      <p:sp>
        <p:nvSpPr>
          <p:cNvPr id="12" name="Text 10"/>
          <p:cNvSpPr/>
          <p:nvPr/>
        </p:nvSpPr>
        <p:spPr>
          <a:xfrm>
            <a:off x="2568300" y="1417320"/>
            <a:ext cx="858954" cy="777240"/>
          </a:xfrm>
          <a:prstGeom prst="rect">
            <a:avLst/>
          </a:prstGeom>
          <a:noFill/>
          <a:ln/>
        </p:spPr>
        <p:txBody>
          <a:bodyPr wrap="square" lIns="0" tIns="0" rIns="0" bIns="0" rtlCol="0" anchor="ctr"/>
          <a:lstStyle/>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GOOGLEBOT</a:t>
            </a:r>
            <a:endParaRPr lang="en-US" sz="830" dirty="0"/>
          </a:p>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FETCH</a:t>
            </a:r>
            <a:endParaRPr lang="en-US" sz="830" dirty="0"/>
          </a:p>
        </p:txBody>
      </p:sp>
      <p:sp>
        <p:nvSpPr>
          <p:cNvPr id="13" name="Shape 11"/>
          <p:cNvSpPr/>
          <p:nvPr/>
        </p:nvSpPr>
        <p:spPr>
          <a:xfrm>
            <a:off x="3472974" y="1805940"/>
            <a:ext cx="82296" cy="0"/>
          </a:xfrm>
          <a:prstGeom prst="line">
            <a:avLst/>
          </a:prstGeom>
          <a:noFill/>
          <a:ln w="19050">
            <a:solidFill>
              <a:srgbClr val="4D4D4D"/>
            </a:solidFill>
            <a:prstDash val="solid"/>
            <a:tailEnd type="triangle"/>
          </a:ln>
        </p:spPr>
      </p:sp>
      <p:sp>
        <p:nvSpPr>
          <p:cNvPr id="14" name="Shape 12"/>
          <p:cNvSpPr/>
          <p:nvPr/>
        </p:nvSpPr>
        <p:spPr>
          <a:xfrm>
            <a:off x="3555270" y="1417320"/>
            <a:ext cx="950394" cy="777240"/>
          </a:xfrm>
          <a:prstGeom prst="rect">
            <a:avLst>
              <a:gd name="adj" fmla="val 4706"/>
            </a:avLst>
          </a:prstGeom>
          <a:solidFill>
            <a:srgbClr val="FFFFFF"/>
          </a:solidFill>
          <a:ln w="12700">
            <a:solidFill>
              <a:srgbClr val="1A1A1A"/>
            </a:solidFill>
            <a:prstDash val="solid"/>
          </a:ln>
        </p:spPr>
      </p:sp>
      <p:sp>
        <p:nvSpPr>
          <p:cNvPr id="15" name="Text 13"/>
          <p:cNvSpPr/>
          <p:nvPr/>
        </p:nvSpPr>
        <p:spPr>
          <a:xfrm>
            <a:off x="3600990" y="1417320"/>
            <a:ext cx="858954" cy="777240"/>
          </a:xfrm>
          <a:prstGeom prst="rect">
            <a:avLst/>
          </a:prstGeom>
          <a:noFill/>
          <a:ln/>
        </p:spPr>
        <p:txBody>
          <a:bodyPr wrap="square" lIns="0" tIns="0" rIns="0" bIns="0" rtlCol="0" anchor="ctr"/>
          <a:lstStyle/>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TWO-WAVE</a:t>
            </a:r>
            <a:endParaRPr lang="en-US" sz="830" dirty="0"/>
          </a:p>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RENDER</a:t>
            </a:r>
            <a:endParaRPr lang="en-US" sz="830" dirty="0"/>
          </a:p>
        </p:txBody>
      </p:sp>
      <p:sp>
        <p:nvSpPr>
          <p:cNvPr id="16" name="Shape 14"/>
          <p:cNvSpPr/>
          <p:nvPr/>
        </p:nvSpPr>
        <p:spPr>
          <a:xfrm>
            <a:off x="4505664" y="1805940"/>
            <a:ext cx="82296" cy="0"/>
          </a:xfrm>
          <a:prstGeom prst="line">
            <a:avLst/>
          </a:prstGeom>
          <a:noFill/>
          <a:ln w="19050">
            <a:solidFill>
              <a:srgbClr val="4D4D4D"/>
            </a:solidFill>
            <a:prstDash val="solid"/>
            <a:tailEnd type="triangle"/>
          </a:ln>
        </p:spPr>
      </p:sp>
      <p:sp>
        <p:nvSpPr>
          <p:cNvPr id="17" name="Shape 15"/>
          <p:cNvSpPr/>
          <p:nvPr/>
        </p:nvSpPr>
        <p:spPr>
          <a:xfrm>
            <a:off x="4587960" y="1417320"/>
            <a:ext cx="950394" cy="777240"/>
          </a:xfrm>
          <a:prstGeom prst="rect">
            <a:avLst>
              <a:gd name="adj" fmla="val 4706"/>
            </a:avLst>
          </a:prstGeom>
          <a:solidFill>
            <a:srgbClr val="FFFFFF"/>
          </a:solidFill>
          <a:ln w="12700">
            <a:solidFill>
              <a:srgbClr val="1A1A1A"/>
            </a:solidFill>
            <a:prstDash val="solid"/>
          </a:ln>
        </p:spPr>
      </p:sp>
      <p:sp>
        <p:nvSpPr>
          <p:cNvPr id="18" name="Text 16"/>
          <p:cNvSpPr/>
          <p:nvPr/>
        </p:nvSpPr>
        <p:spPr>
          <a:xfrm>
            <a:off x="4633680" y="1417320"/>
            <a:ext cx="858954" cy="777240"/>
          </a:xfrm>
          <a:prstGeom prst="rect">
            <a:avLst/>
          </a:prstGeom>
          <a:noFill/>
          <a:ln/>
        </p:spPr>
        <p:txBody>
          <a:bodyPr wrap="square" lIns="0" tIns="0" rIns="0" bIns="0" rtlCol="0" anchor="ctr"/>
          <a:lstStyle/>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SIMHASH</a:t>
            </a:r>
            <a:endParaRPr lang="en-US" sz="830" dirty="0"/>
          </a:p>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DEDUP</a:t>
            </a:r>
            <a:endParaRPr lang="en-US" sz="830" dirty="0"/>
          </a:p>
        </p:txBody>
      </p:sp>
      <p:sp>
        <p:nvSpPr>
          <p:cNvPr id="19" name="Shape 17"/>
          <p:cNvSpPr/>
          <p:nvPr/>
        </p:nvSpPr>
        <p:spPr>
          <a:xfrm>
            <a:off x="5538355" y="1805940"/>
            <a:ext cx="82296" cy="0"/>
          </a:xfrm>
          <a:prstGeom prst="line">
            <a:avLst/>
          </a:prstGeom>
          <a:noFill/>
          <a:ln w="19050">
            <a:solidFill>
              <a:srgbClr val="4D4D4D"/>
            </a:solidFill>
            <a:prstDash val="solid"/>
            <a:tailEnd type="triangle"/>
          </a:ln>
        </p:spPr>
      </p:sp>
      <p:sp>
        <p:nvSpPr>
          <p:cNvPr id="20" name="Shape 18"/>
          <p:cNvSpPr/>
          <p:nvPr/>
        </p:nvSpPr>
        <p:spPr>
          <a:xfrm>
            <a:off x="5620651" y="1417320"/>
            <a:ext cx="950394" cy="777240"/>
          </a:xfrm>
          <a:prstGeom prst="rect">
            <a:avLst>
              <a:gd name="adj" fmla="val 4706"/>
            </a:avLst>
          </a:prstGeom>
          <a:solidFill>
            <a:srgbClr val="FFFFFF"/>
          </a:solidFill>
          <a:ln w="12700">
            <a:solidFill>
              <a:srgbClr val="1A1A1A"/>
            </a:solidFill>
            <a:prstDash val="solid"/>
          </a:ln>
        </p:spPr>
      </p:sp>
      <p:sp>
        <p:nvSpPr>
          <p:cNvPr id="21" name="Text 19"/>
          <p:cNvSpPr/>
          <p:nvPr/>
        </p:nvSpPr>
        <p:spPr>
          <a:xfrm>
            <a:off x="5666371" y="1417320"/>
            <a:ext cx="858954" cy="777240"/>
          </a:xfrm>
          <a:prstGeom prst="rect">
            <a:avLst/>
          </a:prstGeom>
          <a:noFill/>
          <a:ln/>
        </p:spPr>
        <p:txBody>
          <a:bodyPr wrap="square" lIns="0" tIns="0" rIns="0" bIns="0" rtlCol="0" anchor="ctr"/>
          <a:lstStyle/>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INVERTED</a:t>
            </a:r>
            <a:endParaRPr lang="en-US" sz="830" dirty="0"/>
          </a:p>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INDEX SHARDS</a:t>
            </a:r>
            <a:endParaRPr lang="en-US" sz="830" dirty="0"/>
          </a:p>
        </p:txBody>
      </p:sp>
      <p:sp>
        <p:nvSpPr>
          <p:cNvPr id="22" name="Shape 20"/>
          <p:cNvSpPr/>
          <p:nvPr/>
        </p:nvSpPr>
        <p:spPr>
          <a:xfrm>
            <a:off x="6571045" y="1805940"/>
            <a:ext cx="82296" cy="0"/>
          </a:xfrm>
          <a:prstGeom prst="line">
            <a:avLst/>
          </a:prstGeom>
          <a:noFill/>
          <a:ln w="19050">
            <a:solidFill>
              <a:srgbClr val="4D4D4D"/>
            </a:solidFill>
            <a:prstDash val="solid"/>
            <a:tailEnd type="triangle"/>
          </a:ln>
        </p:spPr>
      </p:sp>
      <p:sp>
        <p:nvSpPr>
          <p:cNvPr id="23" name="Shape 21"/>
          <p:cNvSpPr/>
          <p:nvPr/>
        </p:nvSpPr>
        <p:spPr>
          <a:xfrm>
            <a:off x="6653341" y="1417320"/>
            <a:ext cx="950394" cy="777240"/>
          </a:xfrm>
          <a:prstGeom prst="rect">
            <a:avLst>
              <a:gd name="adj" fmla="val 4706"/>
            </a:avLst>
          </a:prstGeom>
          <a:solidFill>
            <a:srgbClr val="FFFFFF"/>
          </a:solidFill>
          <a:ln w="12700">
            <a:solidFill>
              <a:srgbClr val="1A1A1A"/>
            </a:solidFill>
            <a:prstDash val="solid"/>
          </a:ln>
        </p:spPr>
      </p:sp>
      <p:sp>
        <p:nvSpPr>
          <p:cNvPr id="24" name="Text 22"/>
          <p:cNvSpPr/>
          <p:nvPr/>
        </p:nvSpPr>
        <p:spPr>
          <a:xfrm>
            <a:off x="6699061" y="1417320"/>
            <a:ext cx="858954" cy="777240"/>
          </a:xfrm>
          <a:prstGeom prst="rect">
            <a:avLst/>
          </a:prstGeom>
          <a:noFill/>
          <a:ln/>
        </p:spPr>
        <p:txBody>
          <a:bodyPr wrap="square" lIns="0" tIns="0" rIns="0" bIns="0" rtlCol="0" anchor="ctr"/>
          <a:lstStyle/>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USER</a:t>
            </a:r>
            <a:endParaRPr lang="en-US" sz="830" dirty="0"/>
          </a:p>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QUERY</a:t>
            </a:r>
            <a:endParaRPr lang="en-US" sz="830" dirty="0"/>
          </a:p>
        </p:txBody>
      </p:sp>
      <p:sp>
        <p:nvSpPr>
          <p:cNvPr id="25" name="Shape 23"/>
          <p:cNvSpPr/>
          <p:nvPr/>
        </p:nvSpPr>
        <p:spPr>
          <a:xfrm>
            <a:off x="7603735" y="1805940"/>
            <a:ext cx="82296" cy="0"/>
          </a:xfrm>
          <a:prstGeom prst="line">
            <a:avLst/>
          </a:prstGeom>
          <a:noFill/>
          <a:ln w="19050">
            <a:solidFill>
              <a:srgbClr val="4D4D4D"/>
            </a:solidFill>
            <a:prstDash val="solid"/>
            <a:tailEnd type="triangle"/>
          </a:ln>
        </p:spPr>
      </p:sp>
      <p:sp>
        <p:nvSpPr>
          <p:cNvPr id="26" name="Shape 24"/>
          <p:cNvSpPr/>
          <p:nvPr/>
        </p:nvSpPr>
        <p:spPr>
          <a:xfrm>
            <a:off x="7686031" y="1417320"/>
            <a:ext cx="950394" cy="777240"/>
          </a:xfrm>
          <a:prstGeom prst="rect">
            <a:avLst>
              <a:gd name="adj" fmla="val 4706"/>
            </a:avLst>
          </a:prstGeom>
          <a:solidFill>
            <a:srgbClr val="FFFFFF"/>
          </a:solidFill>
          <a:ln w="12700">
            <a:solidFill>
              <a:srgbClr val="1A1A1A"/>
            </a:solidFill>
            <a:prstDash val="solid"/>
          </a:ln>
        </p:spPr>
      </p:sp>
      <p:sp>
        <p:nvSpPr>
          <p:cNvPr id="27" name="Text 25"/>
          <p:cNvSpPr/>
          <p:nvPr/>
        </p:nvSpPr>
        <p:spPr>
          <a:xfrm>
            <a:off x="7731751" y="1417320"/>
            <a:ext cx="858954" cy="777240"/>
          </a:xfrm>
          <a:prstGeom prst="rect">
            <a:avLst/>
          </a:prstGeom>
          <a:noFill/>
          <a:ln/>
        </p:spPr>
        <p:txBody>
          <a:bodyPr wrap="square" lIns="0" tIns="0" rIns="0" bIns="0" rtlCol="0" anchor="ctr"/>
          <a:lstStyle/>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TOKENIZE +</a:t>
            </a:r>
            <a:endParaRPr lang="en-US" sz="830" dirty="0"/>
          </a:p>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SYNONYM EXP.</a:t>
            </a:r>
            <a:endParaRPr lang="en-US" sz="830" dirty="0"/>
          </a:p>
        </p:txBody>
      </p:sp>
      <p:sp>
        <p:nvSpPr>
          <p:cNvPr id="28" name="Shape 26"/>
          <p:cNvSpPr/>
          <p:nvPr/>
        </p:nvSpPr>
        <p:spPr>
          <a:xfrm>
            <a:off x="8636425" y="1805940"/>
            <a:ext cx="82296" cy="0"/>
          </a:xfrm>
          <a:prstGeom prst="line">
            <a:avLst/>
          </a:prstGeom>
          <a:noFill/>
          <a:ln w="19050">
            <a:solidFill>
              <a:srgbClr val="4D4D4D"/>
            </a:solidFill>
            <a:prstDash val="solid"/>
            <a:tailEnd type="triangle"/>
          </a:ln>
        </p:spPr>
      </p:sp>
      <p:sp>
        <p:nvSpPr>
          <p:cNvPr id="29" name="Shape 27"/>
          <p:cNvSpPr/>
          <p:nvPr/>
        </p:nvSpPr>
        <p:spPr>
          <a:xfrm>
            <a:off x="8718721" y="1417320"/>
            <a:ext cx="950394" cy="777240"/>
          </a:xfrm>
          <a:prstGeom prst="rect">
            <a:avLst>
              <a:gd name="adj" fmla="val 4706"/>
            </a:avLst>
          </a:prstGeom>
          <a:solidFill>
            <a:srgbClr val="FFFFFF"/>
          </a:solidFill>
          <a:ln w="12700">
            <a:solidFill>
              <a:srgbClr val="1A1A1A"/>
            </a:solidFill>
            <a:prstDash val="solid"/>
          </a:ln>
        </p:spPr>
      </p:sp>
      <p:sp>
        <p:nvSpPr>
          <p:cNvPr id="30" name="Text 28"/>
          <p:cNvSpPr/>
          <p:nvPr/>
        </p:nvSpPr>
        <p:spPr>
          <a:xfrm>
            <a:off x="8764441" y="1417320"/>
            <a:ext cx="858954" cy="777240"/>
          </a:xfrm>
          <a:prstGeom prst="rect">
            <a:avLst/>
          </a:prstGeom>
          <a:noFill/>
          <a:ln/>
        </p:spPr>
        <p:txBody>
          <a:bodyPr wrap="square" lIns="0" tIns="0" rIns="0" bIns="0" rtlCol="0" anchor="ctr"/>
          <a:lstStyle/>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SCATTER-GATHER</a:t>
            </a:r>
            <a:endParaRPr lang="en-US" sz="830" dirty="0"/>
          </a:p>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RETRIEVAL</a:t>
            </a:r>
            <a:endParaRPr lang="en-US" sz="830" dirty="0"/>
          </a:p>
        </p:txBody>
      </p:sp>
      <p:sp>
        <p:nvSpPr>
          <p:cNvPr id="31" name="Shape 29"/>
          <p:cNvSpPr/>
          <p:nvPr/>
        </p:nvSpPr>
        <p:spPr>
          <a:xfrm>
            <a:off x="9669115" y="1805940"/>
            <a:ext cx="82296" cy="0"/>
          </a:xfrm>
          <a:prstGeom prst="line">
            <a:avLst/>
          </a:prstGeom>
          <a:noFill/>
          <a:ln w="19050">
            <a:solidFill>
              <a:srgbClr val="4D4D4D"/>
            </a:solidFill>
            <a:prstDash val="solid"/>
            <a:tailEnd type="triangle"/>
          </a:ln>
        </p:spPr>
      </p:sp>
      <p:sp>
        <p:nvSpPr>
          <p:cNvPr id="32" name="Shape 30"/>
          <p:cNvSpPr/>
          <p:nvPr/>
        </p:nvSpPr>
        <p:spPr>
          <a:xfrm>
            <a:off x="9751411" y="1417320"/>
            <a:ext cx="950394" cy="777240"/>
          </a:xfrm>
          <a:prstGeom prst="rect">
            <a:avLst>
              <a:gd name="adj" fmla="val 4706"/>
            </a:avLst>
          </a:prstGeom>
          <a:solidFill>
            <a:srgbClr val="FFFFFF"/>
          </a:solidFill>
          <a:ln w="12700">
            <a:solidFill>
              <a:srgbClr val="1A1A1A"/>
            </a:solidFill>
            <a:prstDash val="solid"/>
          </a:ln>
        </p:spPr>
      </p:sp>
      <p:sp>
        <p:nvSpPr>
          <p:cNvPr id="33" name="Text 31"/>
          <p:cNvSpPr/>
          <p:nvPr/>
        </p:nvSpPr>
        <p:spPr>
          <a:xfrm>
            <a:off x="9797131" y="1417320"/>
            <a:ext cx="858954" cy="777240"/>
          </a:xfrm>
          <a:prstGeom prst="rect">
            <a:avLst/>
          </a:prstGeom>
          <a:noFill/>
          <a:ln/>
        </p:spPr>
        <p:txBody>
          <a:bodyPr wrap="square" lIns="0" tIns="0" rIns="0" bIns="0" rtlCol="0" anchor="ctr"/>
          <a:lstStyle/>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PAGERANK +</a:t>
            </a:r>
            <a:endParaRPr lang="en-US" sz="830" dirty="0"/>
          </a:p>
          <a:p>
            <a:pPr algn="ctr" indent="0" marL="0">
              <a:lnSpc>
                <a:spcPct val="105000"/>
              </a:lnSpc>
              <a:buNone/>
            </a:pPr>
            <a:r>
              <a:rPr lang="en-US" sz="830" b="1" dirty="0">
                <a:solidFill>
                  <a:srgbClr val="1A1A1A"/>
                </a:solidFill>
                <a:latin typeface="Calibri" pitchFamily="34" charset="0"/>
                <a:ea typeface="Calibri" pitchFamily="34" charset="-122"/>
                <a:cs typeface="Calibri" pitchFamily="34" charset="-120"/>
              </a:rPr>
              <a:t>ML RE-RANK</a:t>
            </a:r>
            <a:endParaRPr lang="en-US" sz="830" dirty="0"/>
          </a:p>
        </p:txBody>
      </p:sp>
      <p:sp>
        <p:nvSpPr>
          <p:cNvPr id="34" name="Shape 32"/>
          <p:cNvSpPr/>
          <p:nvPr/>
        </p:nvSpPr>
        <p:spPr>
          <a:xfrm>
            <a:off x="10701805" y="1805940"/>
            <a:ext cx="82296" cy="0"/>
          </a:xfrm>
          <a:prstGeom prst="line">
            <a:avLst/>
          </a:prstGeom>
          <a:noFill/>
          <a:ln w="19050">
            <a:solidFill>
              <a:srgbClr val="4D4D4D"/>
            </a:solidFill>
            <a:prstDash val="solid"/>
            <a:tailEnd type="triangle"/>
          </a:ln>
        </p:spPr>
      </p:sp>
      <p:sp>
        <p:nvSpPr>
          <p:cNvPr id="35" name="Shape 33"/>
          <p:cNvSpPr/>
          <p:nvPr/>
        </p:nvSpPr>
        <p:spPr>
          <a:xfrm>
            <a:off x="10784101" y="1417320"/>
            <a:ext cx="950394" cy="777240"/>
          </a:xfrm>
          <a:prstGeom prst="rect">
            <a:avLst>
              <a:gd name="adj" fmla="val 4706"/>
            </a:avLst>
          </a:prstGeom>
          <a:solidFill>
            <a:srgbClr val="1A1A1A"/>
          </a:solidFill>
          <a:ln w="12700">
            <a:solidFill>
              <a:srgbClr val="1A1A1A"/>
            </a:solidFill>
            <a:prstDash val="solid"/>
          </a:ln>
        </p:spPr>
      </p:sp>
      <p:sp>
        <p:nvSpPr>
          <p:cNvPr id="36" name="Text 34"/>
          <p:cNvSpPr/>
          <p:nvPr/>
        </p:nvSpPr>
        <p:spPr>
          <a:xfrm>
            <a:off x="10829821" y="1417320"/>
            <a:ext cx="858954" cy="777240"/>
          </a:xfrm>
          <a:prstGeom prst="rect">
            <a:avLst/>
          </a:prstGeom>
          <a:noFill/>
          <a:ln/>
        </p:spPr>
        <p:txBody>
          <a:bodyPr wrap="square" lIns="0" tIns="0" rIns="0" bIns="0" rtlCol="0" anchor="ctr"/>
          <a:lstStyle/>
          <a:p>
            <a:pPr algn="ctr" indent="0" marL="0">
              <a:lnSpc>
                <a:spcPct val="105000"/>
              </a:lnSpc>
              <a:buNone/>
            </a:pPr>
            <a:r>
              <a:rPr lang="en-US" sz="830" b="1" dirty="0">
                <a:solidFill>
                  <a:srgbClr val="FFFFFF"/>
                </a:solidFill>
                <a:latin typeface="Calibri" pitchFamily="34" charset="0"/>
                <a:ea typeface="Calibri" pitchFamily="34" charset="-122"/>
                <a:cs typeface="Calibri" pitchFamily="34" charset="-120"/>
              </a:rPr>
              <a:t>FINAL</a:t>
            </a:r>
            <a:endParaRPr lang="en-US" sz="830" dirty="0"/>
          </a:p>
          <a:p>
            <a:pPr algn="ctr" indent="0" marL="0">
              <a:lnSpc>
                <a:spcPct val="105000"/>
              </a:lnSpc>
              <a:buNone/>
            </a:pPr>
            <a:r>
              <a:rPr lang="en-US" sz="830" b="1" dirty="0">
                <a:solidFill>
                  <a:srgbClr val="FFFFFF"/>
                </a:solidFill>
                <a:latin typeface="Calibri" pitchFamily="34" charset="0"/>
                <a:ea typeface="Calibri" pitchFamily="34" charset="-122"/>
                <a:cs typeface="Calibri" pitchFamily="34" charset="-120"/>
              </a:rPr>
              <a:t>SERP</a:t>
            </a:r>
            <a:endParaRPr lang="en-US" sz="830" dirty="0"/>
          </a:p>
        </p:txBody>
      </p:sp>
      <p:sp>
        <p:nvSpPr>
          <p:cNvPr id="37" name="Shape 35"/>
          <p:cNvSpPr/>
          <p:nvPr/>
        </p:nvSpPr>
        <p:spPr>
          <a:xfrm>
            <a:off x="457200" y="2340864"/>
            <a:ext cx="5081155" cy="0"/>
          </a:xfrm>
          <a:prstGeom prst="line">
            <a:avLst/>
          </a:prstGeom>
          <a:noFill/>
          <a:ln w="15875">
            <a:solidFill>
              <a:srgbClr val="ADADAD"/>
            </a:solidFill>
            <a:prstDash val="solid"/>
          </a:ln>
        </p:spPr>
      </p:sp>
      <p:sp>
        <p:nvSpPr>
          <p:cNvPr id="38" name="Text 36"/>
          <p:cNvSpPr/>
          <p:nvPr/>
        </p:nvSpPr>
        <p:spPr>
          <a:xfrm>
            <a:off x="457200" y="2395728"/>
            <a:ext cx="5081155" cy="274320"/>
          </a:xfrm>
          <a:prstGeom prst="rect">
            <a:avLst/>
          </a:prstGeom>
          <a:noFill/>
          <a:ln/>
        </p:spPr>
        <p:txBody>
          <a:bodyPr wrap="square" lIns="0" tIns="0" rIns="0" bIns="0" rtlCol="0" anchor="ctr"/>
          <a:lstStyle/>
          <a:p>
            <a:pPr algn="ctr" indent="0" marL="0">
              <a:buNone/>
            </a:pPr>
            <a:r>
              <a:rPr lang="en-US" sz="870" b="1" spc="50" kern="0" dirty="0">
                <a:solidFill>
                  <a:srgbClr val="7A7A7A"/>
                </a:solidFill>
                <a:latin typeface="Calibri" pitchFamily="34" charset="0"/>
                <a:ea typeface="Calibri" pitchFamily="34" charset="-122"/>
                <a:cs typeface="Calibri" pitchFamily="34" charset="-120"/>
              </a:rPr>
              <a:t>CRAWLING &amp; INDEXING</a:t>
            </a:r>
            <a:endParaRPr lang="en-US" sz="870" dirty="0"/>
          </a:p>
        </p:txBody>
      </p:sp>
      <p:sp>
        <p:nvSpPr>
          <p:cNvPr id="39" name="Shape 37"/>
          <p:cNvSpPr/>
          <p:nvPr/>
        </p:nvSpPr>
        <p:spPr>
          <a:xfrm>
            <a:off x="5620651" y="2340864"/>
            <a:ext cx="950394" cy="0"/>
          </a:xfrm>
          <a:prstGeom prst="line">
            <a:avLst/>
          </a:prstGeom>
          <a:noFill/>
          <a:ln w="15875">
            <a:solidFill>
              <a:srgbClr val="ADADAD"/>
            </a:solidFill>
            <a:prstDash val="solid"/>
          </a:ln>
        </p:spPr>
      </p:sp>
      <p:sp>
        <p:nvSpPr>
          <p:cNvPr id="40" name="Text 38"/>
          <p:cNvSpPr/>
          <p:nvPr/>
        </p:nvSpPr>
        <p:spPr>
          <a:xfrm>
            <a:off x="5620651" y="2395728"/>
            <a:ext cx="950394" cy="274320"/>
          </a:xfrm>
          <a:prstGeom prst="rect">
            <a:avLst/>
          </a:prstGeom>
          <a:noFill/>
          <a:ln/>
        </p:spPr>
        <p:txBody>
          <a:bodyPr wrap="square" lIns="0" tIns="0" rIns="0" bIns="0" rtlCol="0" anchor="ctr"/>
          <a:lstStyle/>
          <a:p>
            <a:pPr algn="ctr" indent="0" marL="0">
              <a:buNone/>
            </a:pPr>
            <a:r>
              <a:rPr lang="en-US" sz="870" b="1" spc="50" kern="0" dirty="0">
                <a:solidFill>
                  <a:srgbClr val="7A7A7A"/>
                </a:solidFill>
                <a:latin typeface="Calibri" pitchFamily="34" charset="0"/>
                <a:ea typeface="Calibri" pitchFamily="34" charset="-122"/>
                <a:cs typeface="Calibri" pitchFamily="34" charset="-120"/>
              </a:rPr>
              <a:t>SEARCH INDEX</a:t>
            </a:r>
            <a:endParaRPr lang="en-US" sz="870" dirty="0"/>
          </a:p>
        </p:txBody>
      </p:sp>
      <p:sp>
        <p:nvSpPr>
          <p:cNvPr id="41" name="Shape 39"/>
          <p:cNvSpPr/>
          <p:nvPr/>
        </p:nvSpPr>
        <p:spPr>
          <a:xfrm>
            <a:off x="6653341" y="2340864"/>
            <a:ext cx="1983084" cy="0"/>
          </a:xfrm>
          <a:prstGeom prst="line">
            <a:avLst/>
          </a:prstGeom>
          <a:noFill/>
          <a:ln w="15875">
            <a:solidFill>
              <a:srgbClr val="ADADAD"/>
            </a:solidFill>
            <a:prstDash val="solid"/>
          </a:ln>
        </p:spPr>
      </p:sp>
      <p:sp>
        <p:nvSpPr>
          <p:cNvPr id="42" name="Text 40"/>
          <p:cNvSpPr/>
          <p:nvPr/>
        </p:nvSpPr>
        <p:spPr>
          <a:xfrm>
            <a:off x="6653341" y="2395728"/>
            <a:ext cx="1983084" cy="274320"/>
          </a:xfrm>
          <a:prstGeom prst="rect">
            <a:avLst/>
          </a:prstGeom>
          <a:noFill/>
          <a:ln/>
        </p:spPr>
        <p:txBody>
          <a:bodyPr wrap="square" lIns="0" tIns="0" rIns="0" bIns="0" rtlCol="0" anchor="ctr"/>
          <a:lstStyle/>
          <a:p>
            <a:pPr algn="ctr" indent="0" marL="0">
              <a:buNone/>
            </a:pPr>
            <a:r>
              <a:rPr lang="en-US" sz="870" b="1" spc="50" kern="0" dirty="0">
                <a:solidFill>
                  <a:srgbClr val="7A7A7A"/>
                </a:solidFill>
                <a:latin typeface="Calibri" pitchFamily="34" charset="0"/>
                <a:ea typeface="Calibri" pitchFamily="34" charset="-122"/>
                <a:cs typeface="Calibri" pitchFamily="34" charset="-120"/>
              </a:rPr>
              <a:t>QUERY PROCESSING</a:t>
            </a:r>
            <a:endParaRPr lang="en-US" sz="870" dirty="0"/>
          </a:p>
        </p:txBody>
      </p:sp>
      <p:sp>
        <p:nvSpPr>
          <p:cNvPr id="43" name="Shape 41"/>
          <p:cNvSpPr/>
          <p:nvPr/>
        </p:nvSpPr>
        <p:spPr>
          <a:xfrm>
            <a:off x="8718721" y="2340864"/>
            <a:ext cx="1983084" cy="0"/>
          </a:xfrm>
          <a:prstGeom prst="line">
            <a:avLst/>
          </a:prstGeom>
          <a:noFill/>
          <a:ln w="15875">
            <a:solidFill>
              <a:srgbClr val="ADADAD"/>
            </a:solidFill>
            <a:prstDash val="solid"/>
          </a:ln>
        </p:spPr>
      </p:sp>
      <p:sp>
        <p:nvSpPr>
          <p:cNvPr id="44" name="Text 42"/>
          <p:cNvSpPr/>
          <p:nvPr/>
        </p:nvSpPr>
        <p:spPr>
          <a:xfrm>
            <a:off x="8718721" y="2395728"/>
            <a:ext cx="1983084" cy="274320"/>
          </a:xfrm>
          <a:prstGeom prst="rect">
            <a:avLst/>
          </a:prstGeom>
          <a:noFill/>
          <a:ln/>
        </p:spPr>
        <p:txBody>
          <a:bodyPr wrap="square" lIns="0" tIns="0" rIns="0" bIns="0" rtlCol="0" anchor="ctr"/>
          <a:lstStyle/>
          <a:p>
            <a:pPr algn="ctr" indent="0" marL="0">
              <a:buNone/>
            </a:pPr>
            <a:r>
              <a:rPr lang="en-US" sz="870" b="1" spc="50" kern="0" dirty="0">
                <a:solidFill>
                  <a:srgbClr val="7A7A7A"/>
                </a:solidFill>
                <a:latin typeface="Calibri" pitchFamily="34" charset="0"/>
                <a:ea typeface="Calibri" pitchFamily="34" charset="-122"/>
                <a:cs typeface="Calibri" pitchFamily="34" charset="-120"/>
              </a:rPr>
              <a:t>RETRIEVAL &amp; RANKING</a:t>
            </a:r>
            <a:endParaRPr lang="en-US" sz="870" dirty="0"/>
          </a:p>
        </p:txBody>
      </p:sp>
      <p:sp>
        <p:nvSpPr>
          <p:cNvPr id="45" name="Shape 43"/>
          <p:cNvSpPr/>
          <p:nvPr/>
        </p:nvSpPr>
        <p:spPr>
          <a:xfrm>
            <a:off x="10784101" y="2340864"/>
            <a:ext cx="950394" cy="0"/>
          </a:xfrm>
          <a:prstGeom prst="line">
            <a:avLst/>
          </a:prstGeom>
          <a:noFill/>
          <a:ln w="15875">
            <a:solidFill>
              <a:srgbClr val="ADADAD"/>
            </a:solidFill>
            <a:prstDash val="solid"/>
          </a:ln>
        </p:spPr>
      </p:sp>
      <p:sp>
        <p:nvSpPr>
          <p:cNvPr id="46" name="Text 44"/>
          <p:cNvSpPr/>
          <p:nvPr/>
        </p:nvSpPr>
        <p:spPr>
          <a:xfrm>
            <a:off x="10784101" y="2395728"/>
            <a:ext cx="950394" cy="274320"/>
          </a:xfrm>
          <a:prstGeom prst="rect">
            <a:avLst/>
          </a:prstGeom>
          <a:noFill/>
          <a:ln/>
        </p:spPr>
        <p:txBody>
          <a:bodyPr wrap="square" lIns="0" tIns="0" rIns="0" bIns="0" rtlCol="0" anchor="ctr"/>
          <a:lstStyle/>
          <a:p>
            <a:pPr algn="ctr" indent="0" marL="0">
              <a:buNone/>
            </a:pPr>
            <a:r>
              <a:rPr lang="en-US" sz="870" b="1" spc="50" kern="0" dirty="0">
                <a:solidFill>
                  <a:srgbClr val="7A7A7A"/>
                </a:solidFill>
                <a:latin typeface="Calibri" pitchFamily="34" charset="0"/>
                <a:ea typeface="Calibri" pitchFamily="34" charset="-122"/>
                <a:cs typeface="Calibri" pitchFamily="34" charset="-120"/>
              </a:rPr>
              <a:t>FINAL SERP</a:t>
            </a:r>
            <a:endParaRPr lang="en-US" sz="870" dirty="0"/>
          </a:p>
        </p:txBody>
      </p:sp>
      <p:sp>
        <p:nvSpPr>
          <p:cNvPr id="47" name="Shape 45"/>
          <p:cNvSpPr/>
          <p:nvPr/>
        </p:nvSpPr>
        <p:spPr>
          <a:xfrm>
            <a:off x="457200" y="2788920"/>
            <a:ext cx="6903720" cy="1417320"/>
          </a:xfrm>
          <a:prstGeom prst="rect">
            <a:avLst>
              <a:gd name="adj" fmla="val 3226"/>
            </a:avLst>
          </a:prstGeom>
          <a:solidFill>
            <a:srgbClr val="1A1A1A"/>
          </a:solidFill>
          <a:ln/>
        </p:spPr>
      </p:sp>
      <p:sp>
        <p:nvSpPr>
          <p:cNvPr id="48" name="Text 46"/>
          <p:cNvSpPr/>
          <p:nvPr/>
        </p:nvSpPr>
        <p:spPr>
          <a:xfrm>
            <a:off x="777240" y="2953512"/>
            <a:ext cx="6263640" cy="1143000"/>
          </a:xfrm>
          <a:prstGeom prst="rect">
            <a:avLst/>
          </a:prstGeom>
          <a:noFill/>
          <a:ln/>
        </p:spPr>
        <p:txBody>
          <a:bodyPr wrap="square" lIns="0" tIns="0" rIns="0" bIns="0" rtlCol="0" anchor="t"/>
          <a:lstStyle/>
          <a:p>
            <a:pPr indent="0" marL="0">
              <a:lnSpc>
                <a:spcPct val="120000"/>
              </a:lnSpc>
              <a:buNone/>
            </a:pPr>
            <a:r>
              <a:rPr lang="en-US" sz="1000" b="1" spc="150" kern="0" dirty="0">
                <a:solidFill>
                  <a:srgbClr val="ADADAD"/>
                </a:solidFill>
                <a:latin typeface="Calibri" pitchFamily="34" charset="0"/>
                <a:ea typeface="Calibri" pitchFamily="34" charset="-122"/>
                <a:cs typeface="Calibri" pitchFamily="34" charset="-120"/>
              </a:rPr>
              <a:t>KEY TAKEAWAY</a:t>
            </a:r>
            <a:endParaRPr lang="en-US" sz="1000" dirty="0"/>
          </a:p>
          <a:p>
            <a:pPr indent="0" marL="0">
              <a:lnSpc>
                <a:spcPct val="120000"/>
              </a:lnSpc>
              <a:buNone/>
            </a:pPr>
            <a:r>
              <a:rPr lang="en-US" sz="1300" b="1" dirty="0">
                <a:solidFill>
                  <a:srgbClr val="FFFFFF"/>
                </a:solidFill>
                <a:latin typeface="Calibri" pitchFamily="34" charset="0"/>
                <a:ea typeface="Calibri" pitchFamily="34" charset="-122"/>
                <a:cs typeface="Calibri" pitchFamily="34" charset="-120"/>
              </a:rPr>
              <a:t>Google Search is not a single algorithm. It is a distributed pipeline that performs expensive web processing before the query, then uses multi-stage retrieval and ranking to return relevant results quickly.</a:t>
            </a:r>
            <a:endParaRPr lang="en-US" sz="1000" dirty="0"/>
          </a:p>
        </p:txBody>
      </p:sp>
      <p:sp>
        <p:nvSpPr>
          <p:cNvPr id="49" name="Text 47"/>
          <p:cNvSpPr/>
          <p:nvPr/>
        </p:nvSpPr>
        <p:spPr>
          <a:xfrm>
            <a:off x="457200" y="4325112"/>
            <a:ext cx="6903720" cy="365760"/>
          </a:xfrm>
          <a:prstGeom prst="rect">
            <a:avLst/>
          </a:prstGeom>
          <a:noFill/>
          <a:ln/>
        </p:spPr>
        <p:txBody>
          <a:bodyPr wrap="square" lIns="0" tIns="0" rIns="0" bIns="0" rtlCol="0" anchor="ctr"/>
          <a:lstStyle/>
          <a:p>
            <a:pPr indent="0" marL="0">
              <a:lnSpc>
                <a:spcPct val="110000"/>
              </a:lnSpc>
              <a:buNone/>
            </a:pPr>
            <a:r>
              <a:rPr lang="en-US" sz="900" i="1" dirty="0">
                <a:solidFill>
                  <a:srgbClr val="7A7A7A"/>
                </a:solidFill>
                <a:latin typeface="Calibri" pitchFamily="34" charset="0"/>
                <a:ea typeface="Calibri" pitchFamily="34" charset="-122"/>
                <a:cs typeface="Calibri" pitchFamily="34" charset="-120"/>
              </a:rPr>
              <a:t>Publicly documented Google technologies are combined here with our architectural interpretation of how the stages connect.</a:t>
            </a:r>
            <a:endParaRPr lang="en-US" sz="900" dirty="0"/>
          </a:p>
        </p:txBody>
      </p:sp>
      <p:sp>
        <p:nvSpPr>
          <p:cNvPr id="50" name="Shape 48"/>
          <p:cNvSpPr/>
          <p:nvPr/>
        </p:nvSpPr>
        <p:spPr>
          <a:xfrm>
            <a:off x="457200" y="4846320"/>
            <a:ext cx="2209800" cy="960120"/>
          </a:xfrm>
          <a:prstGeom prst="rect">
            <a:avLst>
              <a:gd name="adj" fmla="val 3810"/>
            </a:avLst>
          </a:prstGeom>
          <a:solidFill>
            <a:srgbClr val="F4F4F4"/>
          </a:solidFill>
          <a:ln w="12700">
            <a:solidFill>
              <a:srgbClr val="C9C9C9"/>
            </a:solidFill>
            <a:prstDash val="solid"/>
          </a:ln>
        </p:spPr>
      </p:sp>
      <p:sp>
        <p:nvSpPr>
          <p:cNvPr id="51" name="Text 49"/>
          <p:cNvSpPr/>
          <p:nvPr/>
        </p:nvSpPr>
        <p:spPr>
          <a:xfrm>
            <a:off x="594360" y="4956048"/>
            <a:ext cx="1935480" cy="740664"/>
          </a:xfrm>
          <a:prstGeom prst="rect">
            <a:avLst/>
          </a:prstGeom>
          <a:noFill/>
          <a:ln/>
        </p:spPr>
        <p:txBody>
          <a:bodyPr wrap="square" lIns="0" tIns="0" rIns="0" bIns="0" rtlCol="0" anchor="t"/>
          <a:lstStyle/>
          <a:p>
            <a:pPr indent="0" marL="0">
              <a:lnSpc>
                <a:spcPct val="115000"/>
              </a:lnSpc>
              <a:buNone/>
            </a:pPr>
            <a:r>
              <a:rPr lang="en-US" sz="1050" b="1" dirty="0">
                <a:solidFill>
                  <a:srgbClr val="1A1A1A"/>
                </a:solidFill>
                <a:latin typeface="Calibri" pitchFamily="34" charset="0"/>
                <a:ea typeface="Calibri" pitchFamily="34" charset="-122"/>
                <a:cs typeface="Calibri" pitchFamily="34" charset="-120"/>
              </a:rPr>
              <a:t>DISTRIBUTED</a:t>
            </a:r>
            <a:endParaRPr lang="en-US" sz="1050" dirty="0"/>
          </a:p>
          <a:p>
            <a:pPr indent="0" marL="0">
              <a:lnSpc>
                <a:spcPct val="115000"/>
              </a:lnSpc>
              <a:buNone/>
            </a:pPr>
            <a:r>
              <a:rPr lang="en-US" sz="870" dirty="0">
                <a:solidFill>
                  <a:srgbClr val="4D4D4D"/>
                </a:solidFill>
                <a:latin typeface="Calibri" pitchFamily="34" charset="0"/>
                <a:ea typeface="Calibri" pitchFamily="34" charset="-122"/>
                <a:cs typeface="Calibri" pitchFamily="34" charset="-120"/>
              </a:rPr>
              <a:t>Work is sharded across crawling, indexing, and retrieval clusters rather than one machine.</a:t>
            </a:r>
            <a:endParaRPr lang="en-US" sz="1050" dirty="0"/>
          </a:p>
        </p:txBody>
      </p:sp>
      <p:sp>
        <p:nvSpPr>
          <p:cNvPr id="52" name="Shape 50"/>
          <p:cNvSpPr/>
          <p:nvPr/>
        </p:nvSpPr>
        <p:spPr>
          <a:xfrm>
            <a:off x="2804160" y="4846320"/>
            <a:ext cx="2209800" cy="960120"/>
          </a:xfrm>
          <a:prstGeom prst="rect">
            <a:avLst>
              <a:gd name="adj" fmla="val 3810"/>
            </a:avLst>
          </a:prstGeom>
          <a:solidFill>
            <a:srgbClr val="F4F4F4"/>
          </a:solidFill>
          <a:ln w="12700">
            <a:solidFill>
              <a:srgbClr val="C9C9C9"/>
            </a:solidFill>
            <a:prstDash val="solid"/>
          </a:ln>
        </p:spPr>
      </p:sp>
      <p:sp>
        <p:nvSpPr>
          <p:cNvPr id="53" name="Text 51"/>
          <p:cNvSpPr/>
          <p:nvPr/>
        </p:nvSpPr>
        <p:spPr>
          <a:xfrm>
            <a:off x="2941320" y="4956048"/>
            <a:ext cx="1935480" cy="740664"/>
          </a:xfrm>
          <a:prstGeom prst="rect">
            <a:avLst/>
          </a:prstGeom>
          <a:noFill/>
          <a:ln/>
        </p:spPr>
        <p:txBody>
          <a:bodyPr wrap="square" lIns="0" tIns="0" rIns="0" bIns="0" rtlCol="0" anchor="t"/>
          <a:lstStyle/>
          <a:p>
            <a:pPr indent="0" marL="0">
              <a:lnSpc>
                <a:spcPct val="115000"/>
              </a:lnSpc>
              <a:buNone/>
            </a:pPr>
            <a:r>
              <a:rPr lang="en-US" sz="1050" b="1" dirty="0">
                <a:solidFill>
                  <a:srgbClr val="1A1A1A"/>
                </a:solidFill>
                <a:latin typeface="Calibri" pitchFamily="34" charset="0"/>
                <a:ea typeface="Calibri" pitchFamily="34" charset="-122"/>
                <a:cs typeface="Calibri" pitchFamily="34" charset="-120"/>
              </a:rPr>
              <a:t>INCREMENTAL</a:t>
            </a:r>
            <a:endParaRPr lang="en-US" sz="1050" dirty="0"/>
          </a:p>
          <a:p>
            <a:pPr indent="0" marL="0">
              <a:lnSpc>
                <a:spcPct val="115000"/>
              </a:lnSpc>
              <a:buNone/>
            </a:pPr>
            <a:r>
              <a:rPr lang="en-US" sz="870" dirty="0">
                <a:solidFill>
                  <a:srgbClr val="4D4D4D"/>
                </a:solidFill>
                <a:latin typeface="Calibri" pitchFamily="34" charset="0"/>
                <a:ea typeface="Calibri" pitchFamily="34" charset="-122"/>
                <a:cs typeface="Calibri" pitchFamily="34" charset="-120"/>
              </a:rPr>
              <a:t>The index is updated continuously, so new or changed pages surface without a full rebuild.</a:t>
            </a:r>
            <a:endParaRPr lang="en-US" sz="1050" dirty="0"/>
          </a:p>
        </p:txBody>
      </p:sp>
      <p:sp>
        <p:nvSpPr>
          <p:cNvPr id="54" name="Shape 52"/>
          <p:cNvSpPr/>
          <p:nvPr/>
        </p:nvSpPr>
        <p:spPr>
          <a:xfrm>
            <a:off x="5151120" y="4846320"/>
            <a:ext cx="2209800" cy="960120"/>
          </a:xfrm>
          <a:prstGeom prst="rect">
            <a:avLst>
              <a:gd name="adj" fmla="val 3810"/>
            </a:avLst>
          </a:prstGeom>
          <a:solidFill>
            <a:srgbClr val="F4F4F4"/>
          </a:solidFill>
          <a:ln w="12700">
            <a:solidFill>
              <a:srgbClr val="C9C9C9"/>
            </a:solidFill>
            <a:prstDash val="solid"/>
          </a:ln>
        </p:spPr>
      </p:sp>
      <p:sp>
        <p:nvSpPr>
          <p:cNvPr id="55" name="Text 53"/>
          <p:cNvSpPr/>
          <p:nvPr/>
        </p:nvSpPr>
        <p:spPr>
          <a:xfrm>
            <a:off x="5288280" y="4956048"/>
            <a:ext cx="1935480" cy="740664"/>
          </a:xfrm>
          <a:prstGeom prst="rect">
            <a:avLst/>
          </a:prstGeom>
          <a:noFill/>
          <a:ln/>
        </p:spPr>
        <p:txBody>
          <a:bodyPr wrap="square" lIns="0" tIns="0" rIns="0" bIns="0" rtlCol="0" anchor="t"/>
          <a:lstStyle/>
          <a:p>
            <a:pPr indent="0" marL="0">
              <a:lnSpc>
                <a:spcPct val="115000"/>
              </a:lnSpc>
              <a:buNone/>
            </a:pPr>
            <a:r>
              <a:rPr lang="en-US" sz="1050" b="1" dirty="0">
                <a:solidFill>
                  <a:srgbClr val="1A1A1A"/>
                </a:solidFill>
                <a:latin typeface="Calibri" pitchFamily="34" charset="0"/>
                <a:ea typeface="Calibri" pitchFamily="34" charset="-122"/>
                <a:cs typeface="Calibri" pitchFamily="34" charset="-120"/>
              </a:rPr>
              <a:t>MULTI-STAGE</a:t>
            </a:r>
            <a:endParaRPr lang="en-US" sz="1050" dirty="0"/>
          </a:p>
          <a:p>
            <a:pPr indent="0" marL="0">
              <a:lnSpc>
                <a:spcPct val="115000"/>
              </a:lnSpc>
              <a:buNone/>
            </a:pPr>
            <a:r>
              <a:rPr lang="en-US" sz="870" dirty="0">
                <a:solidFill>
                  <a:srgbClr val="4D4D4D"/>
                </a:solidFill>
                <a:latin typeface="Calibri" pitchFamily="34" charset="0"/>
                <a:ea typeface="Calibri" pitchFamily="34" charset="-122"/>
                <a:cs typeface="Calibri" pitchFamily="34" charset="-120"/>
              </a:rPr>
              <a:t>Cheap candidate generation runs first; expensive ranking models are reserved for a small set.</a:t>
            </a:r>
            <a:endParaRPr lang="en-US" sz="1050" dirty="0"/>
          </a:p>
        </p:txBody>
      </p:sp>
      <p:sp>
        <p:nvSpPr>
          <p:cNvPr id="56" name="Shape 54"/>
          <p:cNvSpPr/>
          <p:nvPr/>
        </p:nvSpPr>
        <p:spPr>
          <a:xfrm>
            <a:off x="7589520" y="2788920"/>
            <a:ext cx="4142232" cy="3657600"/>
          </a:xfrm>
          <a:prstGeom prst="rect">
            <a:avLst>
              <a:gd name="adj" fmla="val 1000"/>
            </a:avLst>
          </a:prstGeom>
          <a:solidFill>
            <a:srgbClr val="F4F4F4"/>
          </a:solidFill>
          <a:ln w="12700">
            <a:solidFill>
              <a:srgbClr val="C9C9C9"/>
            </a:solidFill>
            <a:prstDash val="solid"/>
          </a:ln>
        </p:spPr>
      </p:sp>
      <p:sp>
        <p:nvSpPr>
          <p:cNvPr id="57" name="Text 55"/>
          <p:cNvSpPr/>
          <p:nvPr/>
        </p:nvSpPr>
        <p:spPr>
          <a:xfrm>
            <a:off x="7818120" y="2916936"/>
            <a:ext cx="3685032" cy="274320"/>
          </a:xfrm>
          <a:prstGeom prst="rect">
            <a:avLst/>
          </a:prstGeom>
          <a:noFill/>
          <a:ln/>
        </p:spPr>
        <p:txBody>
          <a:bodyPr wrap="square" lIns="0" tIns="0" rIns="0" bIns="0" rtlCol="0" anchor="ctr"/>
          <a:lstStyle/>
          <a:p>
            <a:pPr indent="0" marL="0">
              <a:buNone/>
            </a:pPr>
            <a:r>
              <a:rPr lang="en-US" sz="1050" b="1" spc="150" kern="0" dirty="0">
                <a:solidFill>
                  <a:srgbClr val="1A1A1A"/>
                </a:solidFill>
                <a:latin typeface="Calibri" pitchFamily="34" charset="0"/>
                <a:ea typeface="Calibri" pitchFamily="34" charset="-122"/>
                <a:cs typeface="Calibri" pitchFamily="34" charset="-120"/>
              </a:rPr>
              <a:t>SOURCES</a:t>
            </a:r>
            <a:endParaRPr lang="en-US" sz="1050" dirty="0"/>
          </a:p>
        </p:txBody>
      </p:sp>
      <p:sp>
        <p:nvSpPr>
          <p:cNvPr id="58" name="Text 56"/>
          <p:cNvSpPr/>
          <p:nvPr/>
        </p:nvSpPr>
        <p:spPr>
          <a:xfrm>
            <a:off x="7818120" y="3264408"/>
            <a:ext cx="411480" cy="388620"/>
          </a:xfrm>
          <a:prstGeom prst="rect">
            <a:avLst/>
          </a:prstGeom>
          <a:noFill/>
          <a:ln/>
        </p:spPr>
        <p:txBody>
          <a:bodyPr wrap="square" lIns="0" tIns="0" rIns="0" bIns="0" rtlCol="0" anchor="t"/>
          <a:lstStyle/>
          <a:p>
            <a:pPr indent="0" marL="0">
              <a:buNone/>
            </a:pPr>
            <a:r>
              <a:rPr lang="en-US" sz="870" b="1" dirty="0">
                <a:solidFill>
                  <a:srgbClr val="7A7A7A"/>
                </a:solidFill>
                <a:latin typeface="Consolas" pitchFamily="34" charset="0"/>
                <a:ea typeface="Consolas" pitchFamily="34" charset="-122"/>
                <a:cs typeface="Consolas" pitchFamily="34" charset="-120"/>
              </a:rPr>
              <a:t>[1]</a:t>
            </a:r>
            <a:endParaRPr lang="en-US" sz="870" dirty="0"/>
          </a:p>
        </p:txBody>
      </p:sp>
      <p:sp>
        <p:nvSpPr>
          <p:cNvPr id="59" name="Text 57"/>
          <p:cNvSpPr/>
          <p:nvPr/>
        </p:nvSpPr>
        <p:spPr>
          <a:xfrm>
            <a:off x="8247888" y="3264408"/>
            <a:ext cx="3227832" cy="388620"/>
          </a:xfrm>
          <a:prstGeom prst="rect">
            <a:avLst/>
          </a:prstGeom>
          <a:noFill/>
          <a:ln/>
        </p:spPr>
        <p:txBody>
          <a:bodyPr wrap="square" lIns="0" tIns="0" rIns="0" bIns="0" rtlCol="0" anchor="t"/>
          <a:lstStyle/>
          <a:p>
            <a:pPr indent="0" marL="0">
              <a:lnSpc>
                <a:spcPct val="105000"/>
              </a:lnSpc>
              <a:buNone/>
            </a:pPr>
            <a:r>
              <a:rPr lang="en-US" sz="870" dirty="0">
                <a:solidFill>
                  <a:srgbClr val="4D4D4D"/>
                </a:solidFill>
                <a:latin typeface="Calibri" pitchFamily="34" charset="0"/>
                <a:ea typeface="Calibri" pitchFamily="34" charset="-122"/>
                <a:cs typeface="Calibri" pitchFamily="34" charset="-120"/>
              </a:rPr>
              <a:t>Google Search Central — In-Depth Guide to How Google Search Works</a:t>
            </a:r>
            <a:endParaRPr lang="en-US" sz="870" dirty="0"/>
          </a:p>
        </p:txBody>
      </p:sp>
      <p:sp>
        <p:nvSpPr>
          <p:cNvPr id="60" name="Text 58"/>
          <p:cNvSpPr/>
          <p:nvPr/>
        </p:nvSpPr>
        <p:spPr>
          <a:xfrm>
            <a:off x="7818120" y="3653028"/>
            <a:ext cx="411480" cy="388620"/>
          </a:xfrm>
          <a:prstGeom prst="rect">
            <a:avLst/>
          </a:prstGeom>
          <a:noFill/>
          <a:ln/>
        </p:spPr>
        <p:txBody>
          <a:bodyPr wrap="square" lIns="0" tIns="0" rIns="0" bIns="0" rtlCol="0" anchor="t"/>
          <a:lstStyle/>
          <a:p>
            <a:pPr indent="0" marL="0">
              <a:buNone/>
            </a:pPr>
            <a:r>
              <a:rPr lang="en-US" sz="870" b="1" dirty="0">
                <a:solidFill>
                  <a:srgbClr val="7A7A7A"/>
                </a:solidFill>
                <a:latin typeface="Consolas" pitchFamily="34" charset="0"/>
                <a:ea typeface="Consolas" pitchFamily="34" charset="-122"/>
                <a:cs typeface="Consolas" pitchFamily="34" charset="-120"/>
              </a:rPr>
              <a:t>[2]</a:t>
            </a:r>
            <a:endParaRPr lang="en-US" sz="870" dirty="0"/>
          </a:p>
        </p:txBody>
      </p:sp>
      <p:sp>
        <p:nvSpPr>
          <p:cNvPr id="61" name="Text 59"/>
          <p:cNvSpPr/>
          <p:nvPr/>
        </p:nvSpPr>
        <p:spPr>
          <a:xfrm>
            <a:off x="8247888" y="3653028"/>
            <a:ext cx="3227832" cy="388620"/>
          </a:xfrm>
          <a:prstGeom prst="rect">
            <a:avLst/>
          </a:prstGeom>
          <a:noFill/>
          <a:ln/>
        </p:spPr>
        <p:txBody>
          <a:bodyPr wrap="square" lIns="0" tIns="0" rIns="0" bIns="0" rtlCol="0" anchor="t"/>
          <a:lstStyle/>
          <a:p>
            <a:pPr indent="0" marL="0">
              <a:lnSpc>
                <a:spcPct val="105000"/>
              </a:lnSpc>
              <a:buNone/>
            </a:pPr>
            <a:r>
              <a:rPr lang="en-US" sz="870" dirty="0">
                <a:solidFill>
                  <a:srgbClr val="4D4D4D"/>
                </a:solidFill>
                <a:latin typeface="Calibri" pitchFamily="34" charset="0"/>
                <a:ea typeface="Calibri" pitchFamily="34" charset="-122"/>
                <a:cs typeface="Calibri" pitchFamily="34" charset="-120"/>
              </a:rPr>
              <a:t>Google Search Central — JavaScript SEO Basics &amp; Rendering Pipeline</a:t>
            </a:r>
            <a:endParaRPr lang="en-US" sz="870" dirty="0"/>
          </a:p>
        </p:txBody>
      </p:sp>
      <p:sp>
        <p:nvSpPr>
          <p:cNvPr id="62" name="Text 60"/>
          <p:cNvSpPr/>
          <p:nvPr/>
        </p:nvSpPr>
        <p:spPr>
          <a:xfrm>
            <a:off x="7818120" y="4041648"/>
            <a:ext cx="411480" cy="388620"/>
          </a:xfrm>
          <a:prstGeom prst="rect">
            <a:avLst/>
          </a:prstGeom>
          <a:noFill/>
          <a:ln/>
        </p:spPr>
        <p:txBody>
          <a:bodyPr wrap="square" lIns="0" tIns="0" rIns="0" bIns="0" rtlCol="0" anchor="t"/>
          <a:lstStyle/>
          <a:p>
            <a:pPr indent="0" marL="0">
              <a:buNone/>
            </a:pPr>
            <a:r>
              <a:rPr lang="en-US" sz="870" b="1" dirty="0">
                <a:solidFill>
                  <a:srgbClr val="7A7A7A"/>
                </a:solidFill>
                <a:latin typeface="Consolas" pitchFamily="34" charset="0"/>
                <a:ea typeface="Consolas" pitchFamily="34" charset="-122"/>
                <a:cs typeface="Consolas" pitchFamily="34" charset="-120"/>
              </a:rPr>
              <a:t>[3]</a:t>
            </a:r>
            <a:endParaRPr lang="en-US" sz="870" dirty="0"/>
          </a:p>
        </p:txBody>
      </p:sp>
      <p:sp>
        <p:nvSpPr>
          <p:cNvPr id="63" name="Text 61"/>
          <p:cNvSpPr/>
          <p:nvPr/>
        </p:nvSpPr>
        <p:spPr>
          <a:xfrm>
            <a:off x="8247888" y="4041648"/>
            <a:ext cx="3227832" cy="388620"/>
          </a:xfrm>
          <a:prstGeom prst="rect">
            <a:avLst/>
          </a:prstGeom>
          <a:noFill/>
          <a:ln/>
        </p:spPr>
        <p:txBody>
          <a:bodyPr wrap="square" lIns="0" tIns="0" rIns="0" bIns="0" rtlCol="0" anchor="t"/>
          <a:lstStyle/>
          <a:p>
            <a:pPr indent="0" marL="0">
              <a:lnSpc>
                <a:spcPct val="105000"/>
              </a:lnSpc>
              <a:buNone/>
            </a:pPr>
            <a:r>
              <a:rPr lang="en-US" sz="870" dirty="0">
                <a:solidFill>
                  <a:srgbClr val="4D4D4D"/>
                </a:solidFill>
                <a:latin typeface="Calibri" pitchFamily="34" charset="0"/>
                <a:ea typeface="Calibri" pitchFamily="34" charset="-122"/>
                <a:cs typeface="Calibri" pitchFamily="34" charset="-120"/>
              </a:rPr>
              <a:t>Google Search Central Blog — Infrastructure Update: Caffeine</a:t>
            </a:r>
            <a:endParaRPr lang="en-US" sz="870" dirty="0"/>
          </a:p>
        </p:txBody>
      </p:sp>
      <p:sp>
        <p:nvSpPr>
          <p:cNvPr id="64" name="Text 62"/>
          <p:cNvSpPr/>
          <p:nvPr/>
        </p:nvSpPr>
        <p:spPr>
          <a:xfrm>
            <a:off x="7818120" y="4430268"/>
            <a:ext cx="411480" cy="388620"/>
          </a:xfrm>
          <a:prstGeom prst="rect">
            <a:avLst/>
          </a:prstGeom>
          <a:noFill/>
          <a:ln/>
        </p:spPr>
        <p:txBody>
          <a:bodyPr wrap="square" lIns="0" tIns="0" rIns="0" bIns="0" rtlCol="0" anchor="t"/>
          <a:lstStyle/>
          <a:p>
            <a:pPr indent="0" marL="0">
              <a:buNone/>
            </a:pPr>
            <a:r>
              <a:rPr lang="en-US" sz="870" b="1" dirty="0">
                <a:solidFill>
                  <a:srgbClr val="7A7A7A"/>
                </a:solidFill>
                <a:latin typeface="Consolas" pitchFamily="34" charset="0"/>
                <a:ea typeface="Consolas" pitchFamily="34" charset="-122"/>
                <a:cs typeface="Consolas" pitchFamily="34" charset="-120"/>
              </a:rPr>
              <a:t>[4]</a:t>
            </a:r>
            <a:endParaRPr lang="en-US" sz="870" dirty="0"/>
          </a:p>
        </p:txBody>
      </p:sp>
      <p:sp>
        <p:nvSpPr>
          <p:cNvPr id="65" name="Text 63"/>
          <p:cNvSpPr/>
          <p:nvPr/>
        </p:nvSpPr>
        <p:spPr>
          <a:xfrm>
            <a:off x="8247888" y="4430268"/>
            <a:ext cx="3227832" cy="388620"/>
          </a:xfrm>
          <a:prstGeom prst="rect">
            <a:avLst/>
          </a:prstGeom>
          <a:noFill/>
          <a:ln/>
        </p:spPr>
        <p:txBody>
          <a:bodyPr wrap="square" lIns="0" tIns="0" rIns="0" bIns="0" rtlCol="0" anchor="t"/>
          <a:lstStyle/>
          <a:p>
            <a:pPr indent="0" marL="0">
              <a:lnSpc>
                <a:spcPct val="105000"/>
              </a:lnSpc>
              <a:buNone/>
            </a:pPr>
            <a:r>
              <a:rPr lang="en-US" sz="870" dirty="0">
                <a:solidFill>
                  <a:srgbClr val="4D4D4D"/>
                </a:solidFill>
                <a:latin typeface="Calibri" pitchFamily="34" charset="0"/>
                <a:ea typeface="Calibri" pitchFamily="34" charset="-122"/>
                <a:cs typeface="Calibri" pitchFamily="34" charset="-120"/>
              </a:rPr>
              <a:t>Google Research — MapReduce: Simplified Data Processing on Large Clusters</a:t>
            </a:r>
            <a:endParaRPr lang="en-US" sz="870" dirty="0"/>
          </a:p>
        </p:txBody>
      </p:sp>
      <p:sp>
        <p:nvSpPr>
          <p:cNvPr id="66" name="Text 64"/>
          <p:cNvSpPr/>
          <p:nvPr/>
        </p:nvSpPr>
        <p:spPr>
          <a:xfrm>
            <a:off x="7818120" y="4818888"/>
            <a:ext cx="411480" cy="388620"/>
          </a:xfrm>
          <a:prstGeom prst="rect">
            <a:avLst/>
          </a:prstGeom>
          <a:noFill/>
          <a:ln/>
        </p:spPr>
        <p:txBody>
          <a:bodyPr wrap="square" lIns="0" tIns="0" rIns="0" bIns="0" rtlCol="0" anchor="t"/>
          <a:lstStyle/>
          <a:p>
            <a:pPr indent="0" marL="0">
              <a:buNone/>
            </a:pPr>
            <a:r>
              <a:rPr lang="en-US" sz="870" b="1" dirty="0">
                <a:solidFill>
                  <a:srgbClr val="7A7A7A"/>
                </a:solidFill>
                <a:latin typeface="Consolas" pitchFamily="34" charset="0"/>
                <a:ea typeface="Consolas" pitchFamily="34" charset="-122"/>
                <a:cs typeface="Consolas" pitchFamily="34" charset="-120"/>
              </a:rPr>
              <a:t>[5]</a:t>
            </a:r>
            <a:endParaRPr lang="en-US" sz="870" dirty="0"/>
          </a:p>
        </p:txBody>
      </p:sp>
      <p:sp>
        <p:nvSpPr>
          <p:cNvPr id="67" name="Text 65"/>
          <p:cNvSpPr/>
          <p:nvPr/>
        </p:nvSpPr>
        <p:spPr>
          <a:xfrm>
            <a:off x="8247888" y="4818888"/>
            <a:ext cx="3227832" cy="388620"/>
          </a:xfrm>
          <a:prstGeom prst="rect">
            <a:avLst/>
          </a:prstGeom>
          <a:noFill/>
          <a:ln/>
        </p:spPr>
        <p:txBody>
          <a:bodyPr wrap="square" lIns="0" tIns="0" rIns="0" bIns="0" rtlCol="0" anchor="t"/>
          <a:lstStyle/>
          <a:p>
            <a:pPr indent="0" marL="0">
              <a:lnSpc>
                <a:spcPct val="105000"/>
              </a:lnSpc>
              <a:buNone/>
            </a:pPr>
            <a:r>
              <a:rPr lang="en-US" sz="870" dirty="0">
                <a:solidFill>
                  <a:srgbClr val="4D4D4D"/>
                </a:solidFill>
                <a:latin typeface="Calibri" pitchFamily="34" charset="0"/>
                <a:ea typeface="Calibri" pitchFamily="34" charset="-122"/>
                <a:cs typeface="Calibri" pitchFamily="34" charset="-120"/>
              </a:rPr>
              <a:t>Google Research — Bigtable: A Distributed Storage System for Structured Data</a:t>
            </a:r>
            <a:endParaRPr lang="en-US" sz="870" dirty="0"/>
          </a:p>
        </p:txBody>
      </p:sp>
      <p:sp>
        <p:nvSpPr>
          <p:cNvPr id="68" name="Text 66"/>
          <p:cNvSpPr/>
          <p:nvPr/>
        </p:nvSpPr>
        <p:spPr>
          <a:xfrm>
            <a:off x="7818120" y="5207508"/>
            <a:ext cx="411480" cy="388620"/>
          </a:xfrm>
          <a:prstGeom prst="rect">
            <a:avLst/>
          </a:prstGeom>
          <a:noFill/>
          <a:ln/>
        </p:spPr>
        <p:txBody>
          <a:bodyPr wrap="square" lIns="0" tIns="0" rIns="0" bIns="0" rtlCol="0" anchor="t"/>
          <a:lstStyle/>
          <a:p>
            <a:pPr indent="0" marL="0">
              <a:buNone/>
            </a:pPr>
            <a:r>
              <a:rPr lang="en-US" sz="870" b="1" dirty="0">
                <a:solidFill>
                  <a:srgbClr val="7A7A7A"/>
                </a:solidFill>
                <a:latin typeface="Consolas" pitchFamily="34" charset="0"/>
                <a:ea typeface="Consolas" pitchFamily="34" charset="-122"/>
                <a:cs typeface="Consolas" pitchFamily="34" charset="-120"/>
              </a:rPr>
              <a:t>[6]</a:t>
            </a:r>
            <a:endParaRPr lang="en-US" sz="870" dirty="0"/>
          </a:p>
        </p:txBody>
      </p:sp>
      <p:sp>
        <p:nvSpPr>
          <p:cNvPr id="69" name="Text 67"/>
          <p:cNvSpPr/>
          <p:nvPr/>
        </p:nvSpPr>
        <p:spPr>
          <a:xfrm>
            <a:off x="8247888" y="5207508"/>
            <a:ext cx="3227832" cy="388620"/>
          </a:xfrm>
          <a:prstGeom prst="rect">
            <a:avLst/>
          </a:prstGeom>
          <a:noFill/>
          <a:ln/>
        </p:spPr>
        <p:txBody>
          <a:bodyPr wrap="square" lIns="0" tIns="0" rIns="0" bIns="0" rtlCol="0" anchor="t"/>
          <a:lstStyle/>
          <a:p>
            <a:pPr indent="0" marL="0">
              <a:lnSpc>
                <a:spcPct val="105000"/>
              </a:lnSpc>
              <a:buNone/>
            </a:pPr>
            <a:r>
              <a:rPr lang="en-US" sz="870" dirty="0">
                <a:solidFill>
                  <a:srgbClr val="4D4D4D"/>
                </a:solidFill>
                <a:latin typeface="Calibri" pitchFamily="34" charset="0"/>
                <a:ea typeface="Calibri" pitchFamily="34" charset="-122"/>
                <a:cs typeface="Calibri" pitchFamily="34" charset="-120"/>
              </a:rPr>
              <a:t>Google Research — Detecting Near-Duplicates for Web Crawling</a:t>
            </a:r>
            <a:endParaRPr lang="en-US" sz="870" dirty="0"/>
          </a:p>
        </p:txBody>
      </p:sp>
      <p:sp>
        <p:nvSpPr>
          <p:cNvPr id="70" name="Text 68"/>
          <p:cNvSpPr/>
          <p:nvPr/>
        </p:nvSpPr>
        <p:spPr>
          <a:xfrm>
            <a:off x="7818120" y="5596128"/>
            <a:ext cx="411480" cy="388620"/>
          </a:xfrm>
          <a:prstGeom prst="rect">
            <a:avLst/>
          </a:prstGeom>
          <a:noFill/>
          <a:ln/>
        </p:spPr>
        <p:txBody>
          <a:bodyPr wrap="square" lIns="0" tIns="0" rIns="0" bIns="0" rtlCol="0" anchor="t"/>
          <a:lstStyle/>
          <a:p>
            <a:pPr indent="0" marL="0">
              <a:buNone/>
            </a:pPr>
            <a:r>
              <a:rPr lang="en-US" sz="870" b="1" dirty="0">
                <a:solidFill>
                  <a:srgbClr val="7A7A7A"/>
                </a:solidFill>
                <a:latin typeface="Consolas" pitchFamily="34" charset="0"/>
                <a:ea typeface="Consolas" pitchFamily="34" charset="-122"/>
                <a:cs typeface="Consolas" pitchFamily="34" charset="-120"/>
              </a:rPr>
              <a:t>[7]</a:t>
            </a:r>
            <a:endParaRPr lang="en-US" sz="870" dirty="0"/>
          </a:p>
        </p:txBody>
      </p:sp>
      <p:sp>
        <p:nvSpPr>
          <p:cNvPr id="71" name="Text 69"/>
          <p:cNvSpPr/>
          <p:nvPr/>
        </p:nvSpPr>
        <p:spPr>
          <a:xfrm>
            <a:off x="8247888" y="5596128"/>
            <a:ext cx="3227832" cy="388620"/>
          </a:xfrm>
          <a:prstGeom prst="rect">
            <a:avLst/>
          </a:prstGeom>
          <a:noFill/>
          <a:ln/>
        </p:spPr>
        <p:txBody>
          <a:bodyPr wrap="square" lIns="0" tIns="0" rIns="0" bIns="0" rtlCol="0" anchor="t"/>
          <a:lstStyle/>
          <a:p>
            <a:pPr indent="0" marL="0">
              <a:lnSpc>
                <a:spcPct val="105000"/>
              </a:lnSpc>
              <a:buNone/>
            </a:pPr>
            <a:r>
              <a:rPr lang="en-US" sz="870" dirty="0">
                <a:solidFill>
                  <a:srgbClr val="4D4D4D"/>
                </a:solidFill>
                <a:latin typeface="Calibri" pitchFamily="34" charset="0"/>
                <a:ea typeface="Calibri" pitchFamily="34" charset="-122"/>
                <a:cs typeface="Calibri" pitchFamily="34" charset="-120"/>
              </a:rPr>
              <a:t>Google Research — Web Search for a Planet: The Google Cluster Architecture</a:t>
            </a:r>
            <a:endParaRPr lang="en-US" sz="870" dirty="0"/>
          </a:p>
        </p:txBody>
      </p:sp>
      <p:sp>
        <p:nvSpPr>
          <p:cNvPr id="72" name="Text 70"/>
          <p:cNvSpPr/>
          <p:nvPr/>
        </p:nvSpPr>
        <p:spPr>
          <a:xfrm>
            <a:off x="7818120" y="5984748"/>
            <a:ext cx="411480" cy="388620"/>
          </a:xfrm>
          <a:prstGeom prst="rect">
            <a:avLst/>
          </a:prstGeom>
          <a:noFill/>
          <a:ln/>
        </p:spPr>
        <p:txBody>
          <a:bodyPr wrap="square" lIns="0" tIns="0" rIns="0" bIns="0" rtlCol="0" anchor="t"/>
          <a:lstStyle/>
          <a:p>
            <a:pPr indent="0" marL="0">
              <a:buNone/>
            </a:pPr>
            <a:r>
              <a:rPr lang="en-US" sz="870" b="1" dirty="0">
                <a:solidFill>
                  <a:srgbClr val="7A7A7A"/>
                </a:solidFill>
                <a:latin typeface="Consolas" pitchFamily="34" charset="0"/>
                <a:ea typeface="Consolas" pitchFamily="34" charset="-122"/>
                <a:cs typeface="Consolas" pitchFamily="34" charset="-120"/>
              </a:rPr>
              <a:t>[8]</a:t>
            </a:r>
            <a:endParaRPr lang="en-US" sz="870" dirty="0"/>
          </a:p>
        </p:txBody>
      </p:sp>
      <p:sp>
        <p:nvSpPr>
          <p:cNvPr id="73" name="Text 71"/>
          <p:cNvSpPr/>
          <p:nvPr/>
        </p:nvSpPr>
        <p:spPr>
          <a:xfrm>
            <a:off x="8247888" y="5984748"/>
            <a:ext cx="3227832" cy="388620"/>
          </a:xfrm>
          <a:prstGeom prst="rect">
            <a:avLst/>
          </a:prstGeom>
          <a:noFill/>
          <a:ln/>
        </p:spPr>
        <p:txBody>
          <a:bodyPr wrap="square" lIns="0" tIns="0" rIns="0" bIns="0" rtlCol="0" anchor="t"/>
          <a:lstStyle/>
          <a:p>
            <a:pPr indent="0" marL="0">
              <a:lnSpc>
                <a:spcPct val="105000"/>
              </a:lnSpc>
              <a:buNone/>
            </a:pPr>
            <a:r>
              <a:rPr lang="en-US" sz="870" dirty="0">
                <a:solidFill>
                  <a:srgbClr val="4D4D4D"/>
                </a:solidFill>
                <a:latin typeface="Calibri" pitchFamily="34" charset="0"/>
                <a:ea typeface="Calibri" pitchFamily="34" charset="-122"/>
                <a:cs typeface="Calibri" pitchFamily="34" charset="-120"/>
              </a:rPr>
              <a:t>Stanford InfoLab — The Anatomy of a Large-Scale Hypertextual Web Search Engine</a:t>
            </a:r>
            <a:endParaRPr lang="en-US" sz="87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2026-08-20T14:44:10Z</dcterms:created>
  <dcterms:modified xsi:type="dcterms:W3CDTF">2026-08-20T14:44:10Z</dcterms:modified>
</cp:coreProperties>
</file>